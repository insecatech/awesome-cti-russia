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1"/>
  </p:notesMasterIdLst>
  <p:sldIdLst>
    <p:sldId id="256" r:id="rId3"/>
    <p:sldId id="1253" r:id="rId4"/>
    <p:sldId id="1183" r:id="rId5"/>
    <p:sldId id="1222" r:id="rId6"/>
    <p:sldId id="1252" r:id="rId7"/>
    <p:sldId id="1247" r:id="rId8"/>
    <p:sldId id="1193" r:id="rId9"/>
    <p:sldId id="1245" r:id="rId10"/>
    <p:sldId id="1227" r:id="rId11"/>
    <p:sldId id="1238" r:id="rId12"/>
    <p:sldId id="1203" r:id="rId13"/>
    <p:sldId id="1152" r:id="rId14"/>
    <p:sldId id="1081" r:id="rId15"/>
    <p:sldId id="1242" r:id="rId16"/>
    <p:sldId id="1239" r:id="rId17"/>
    <p:sldId id="1197" r:id="rId18"/>
    <p:sldId id="1240" r:id="rId19"/>
    <p:sldId id="1181" r:id="rId20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0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707" autoAdjust="0"/>
    <p:restoredTop sz="94660"/>
  </p:normalViewPr>
  <p:slideViewPr>
    <p:cSldViewPr snapToGrid="0">
      <p:cViewPr varScale="1">
        <p:scale>
          <a:sx n="74" d="100"/>
          <a:sy n="74" d="100"/>
        </p:scale>
        <p:origin x="28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679549421404623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6954547825429755"/>
          <c:y val="0.20911685945132183"/>
          <c:w val="0.77372249254066572"/>
          <c:h val="0.6873202797543619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Заведено инцидентов на основании IOCs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0C7-4444-B71D-FDAD80BC886F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0C7-4444-B71D-FDAD80BC886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2"/>
                    </a:solidFill>
                    <a:latin typeface="Inter" panose="020B0502030000000004" pitchFamily="34" charset="0"/>
                    <a:ea typeface="Inter" panose="020B05020300000000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1600</c:v>
                </c:pt>
                <c:pt idx="1">
                  <c:v>1300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CE-48FC-BA87-D96561D01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18081727"/>
        <c:axId val="500111855"/>
      </c:barChart>
      <c:catAx>
        <c:axId val="718081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pPr>
            <a:endParaRPr lang="ru-RU"/>
          </a:p>
        </c:txPr>
        <c:crossAx val="500111855"/>
        <c:crosses val="autoZero"/>
        <c:auto val="1"/>
        <c:lblAlgn val="ctr"/>
        <c:lblOffset val="100"/>
        <c:noMultiLvlLbl val="0"/>
      </c:catAx>
      <c:valAx>
        <c:axId val="500111855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718081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/>
                <a:ea typeface="+mn-ea"/>
                <a:cs typeface="+mn-cs"/>
              </a:defRPr>
            </a:pPr>
            <a:r>
              <a:rPr lang="ru-RU" sz="1600" dirty="0"/>
              <a:t>Отправлено </a:t>
            </a:r>
            <a:r>
              <a:rPr lang="en-US" sz="1600" dirty="0">
                <a:latin typeface="Inter" panose="020B0502030000000004"/>
              </a:rPr>
              <a:t>IOCs</a:t>
            </a:r>
            <a:r>
              <a:rPr lang="ru-RU" sz="1600" dirty="0"/>
              <a:t> на блокировку СЗИ</a:t>
            </a:r>
          </a:p>
        </c:rich>
      </c:tx>
      <c:layout>
        <c:manualLayout>
          <c:xMode val="edge"/>
          <c:yMode val="edge"/>
          <c:x val="0.16849848068792458"/>
          <c:y val="0.169619832538479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5000267465698466"/>
          <c:y val="0.37524978068037823"/>
          <c:w val="0.74235179951675345"/>
          <c:h val="0.577467887275129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Повышение уровня защищенности инфраструктуры.
Отправлено индикаторов угроз на блокировку СЗИ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CCF-4F7F-8D12-A7F030B0C5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2500</c:v>
                </c:pt>
                <c:pt idx="1">
                  <c:v>1700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68-4ECF-A1E4-442D82922FE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718081727"/>
        <c:axId val="500111855"/>
      </c:barChart>
      <c:catAx>
        <c:axId val="718081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pPr>
            <a:endParaRPr lang="ru-RU"/>
          </a:p>
        </c:txPr>
        <c:crossAx val="500111855"/>
        <c:crosses val="autoZero"/>
        <c:auto val="1"/>
        <c:lblAlgn val="ctr"/>
        <c:lblOffset val="100"/>
        <c:noMultiLvlLbl val="0"/>
      </c:catAx>
      <c:valAx>
        <c:axId val="5001118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8081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pPr>
            <a:r>
              <a:rPr lang="ru-RU" sz="1400" b="1" kern="120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Изучено</a:t>
            </a:r>
            <a:r>
              <a:rPr lang="ru-RU" sz="1400" b="1" kern="1200" baseline="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 </a:t>
            </a:r>
          </a:p>
          <a:p>
            <a:pPr>
              <a:defRPr sz="1400">
                <a:latin typeface="Inter" panose="020B0502030000000004" pitchFamily="34" charset="0"/>
                <a:ea typeface="Inter" panose="020B0502030000000004" pitchFamily="34" charset="0"/>
              </a:defRPr>
            </a:pPr>
            <a:r>
              <a:rPr lang="ru-RU" sz="1400" b="1" kern="1200" baseline="0" dirty="0" err="1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киберугроз</a:t>
            </a:r>
            <a:endParaRPr lang="ru-RU" sz="1400" b="1" kern="1200" dirty="0">
              <a:solidFill>
                <a:schemeClr val="tx2"/>
              </a:solidFill>
              <a:latin typeface="Inter" panose="020B0502030000000004" pitchFamily="34" charset="0"/>
              <a:ea typeface="+mn-ea"/>
              <a:cs typeface="+mn-cs"/>
            </a:endParaRPr>
          </a:p>
          <a:p>
            <a:pPr>
              <a:defRPr sz="1400">
                <a:latin typeface="Inter" panose="020B0502030000000004" pitchFamily="34" charset="0"/>
                <a:ea typeface="Inter" panose="020B0502030000000004" pitchFamily="34" charset="0"/>
              </a:defRPr>
            </a:pPr>
            <a:r>
              <a:rPr lang="ru-RU" sz="1400" b="1" kern="120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1000</a:t>
            </a:r>
          </a:p>
        </c:rich>
      </c:tx>
      <c:layout>
        <c:manualLayout>
          <c:xMode val="edge"/>
          <c:yMode val="edge"/>
          <c:x val="0.37010210229726037"/>
          <c:y val="0.460268977690248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 pitchFamily="34" charset="0"/>
              <a:ea typeface="Inter" panose="020B0502030000000004" pitchFamily="34" charset="0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0967741935483872"/>
          <c:y val="0.25086092791955217"/>
          <c:w val="0.4724517547289489"/>
          <c:h val="0.70867763209342338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Обработано угроз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8AC-4969-B0C2-98706621E815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8AC-4969-B0C2-98706621E81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8AC-4969-B0C2-98706621E81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8AC-4969-B0C2-98706621E815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AC-4969-B0C2-98706621E81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AC-4969-B0C2-98706621E815}"/>
                </c:ext>
              </c:extLst>
            </c:dLbl>
            <c:spPr>
              <a:solidFill>
                <a:srgbClr val="FFFFFF"/>
              </a:solidFill>
              <a:ln>
                <a:solidFill>
                  <a:srgbClr val="030124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167</c:v>
                </c:pt>
                <c:pt idx="1">
                  <c:v>3797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AC-4969-B0C2-98706621E8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pPr>
            <a:r>
              <a:rPr lang="ru-RU" sz="14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Выявлено </a:t>
            </a:r>
          </a:p>
          <a:p>
            <a:pPr>
              <a:defRPr sz="1400">
                <a:latin typeface="Inter" panose="020B0502030000000004" pitchFamily="34" charset="0"/>
                <a:ea typeface="Inter" panose="020B0502030000000004" pitchFamily="34" charset="0"/>
              </a:defRPr>
            </a:pPr>
            <a:r>
              <a:rPr lang="ru-RU" sz="14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уязвимостей </a:t>
            </a:r>
          </a:p>
          <a:p>
            <a:pPr>
              <a:defRPr sz="1400">
                <a:latin typeface="Inter" panose="020B0502030000000004" pitchFamily="34" charset="0"/>
                <a:ea typeface="Inter" panose="020B0502030000000004" pitchFamily="34" charset="0"/>
              </a:defRPr>
            </a:pPr>
            <a:r>
              <a:rPr lang="ru-RU" sz="14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в мире </a:t>
            </a:r>
          </a:p>
          <a:p>
            <a:pPr>
              <a:defRPr sz="1400">
                <a:latin typeface="Inter" panose="020B0502030000000004" pitchFamily="34" charset="0"/>
                <a:ea typeface="Inter" panose="020B0502030000000004" pitchFamily="34" charset="0"/>
              </a:defRPr>
            </a:pPr>
            <a:r>
              <a:rPr lang="ru-RU" sz="14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2000</a:t>
            </a:r>
          </a:p>
        </c:rich>
      </c:tx>
      <c:layout>
        <c:manualLayout>
          <c:xMode val="edge"/>
          <c:yMode val="edge"/>
          <c:x val="0.36873793045411468"/>
          <c:y val="0.43907040591617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 pitchFamily="34" charset="0"/>
              <a:ea typeface="Inter" panose="020B0502030000000004" pitchFamily="34" charset="0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0967741935483872"/>
          <c:y val="0.25086092791955217"/>
          <c:w val="0.4724517547289489"/>
          <c:h val="0.70867763209342338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F9-4E6B-9FE8-C532F68AEBEA}"/>
              </c:ext>
            </c:extLst>
          </c:dPt>
          <c:dPt>
            <c:idx val="1"/>
            <c:bubble3D val="0"/>
            <c:spPr>
              <a:solidFill>
                <a:srgbClr val="4409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F9-4E6B-9FE8-C532F68AEBE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F9-4E6B-9FE8-C532F68AEBE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BF9-4E6B-9FE8-C532F68AEBEA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BF9-4E6B-9FE8-C532F68AEBE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BF9-4E6B-9FE8-C532F68AEBEA}"/>
                </c:ext>
              </c:extLst>
            </c:dLbl>
            <c:spPr>
              <a:solidFill>
                <a:srgbClr val="FFFFFF"/>
              </a:solidFill>
              <a:ln>
                <a:solidFill>
                  <a:srgbClr val="030124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374</c:v>
                </c:pt>
                <c:pt idx="1">
                  <c:v>5310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BF9-4E6B-9FE8-C532F68AEB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6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pPr>
            <a:r>
              <a:rPr lang="ru-RU" sz="12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Проверено </a:t>
            </a:r>
          </a:p>
          <a:p>
            <a:pPr>
              <a:defRPr sz="1400">
                <a:latin typeface="Inter" panose="020B0502030000000004" pitchFamily="34" charset="0"/>
                <a:ea typeface="Inter" panose="020B0502030000000004" pitchFamily="34" charset="0"/>
              </a:defRPr>
            </a:pPr>
            <a:r>
              <a:rPr lang="ru-RU" sz="12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строк БД утечек</a:t>
            </a:r>
          </a:p>
          <a:p>
            <a:pPr>
              <a:defRPr sz="1400">
                <a:latin typeface="Inter" panose="020B0502030000000004" pitchFamily="34" charset="0"/>
                <a:ea typeface="Inter" panose="020B0502030000000004" pitchFamily="34" charset="0"/>
              </a:defRPr>
            </a:pPr>
            <a:r>
              <a:rPr lang="en-US" sz="20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~</a:t>
            </a:r>
            <a:r>
              <a:rPr lang="ru-RU" sz="20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5</a:t>
            </a:r>
            <a:r>
              <a:rPr lang="en-US" sz="20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0 </a:t>
            </a:r>
            <a:r>
              <a:rPr lang="ru-RU" sz="20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млн.</a:t>
            </a:r>
          </a:p>
        </c:rich>
      </c:tx>
      <c:layout>
        <c:manualLayout>
          <c:xMode val="edge"/>
          <c:yMode val="edge"/>
          <c:x val="0.370482651271548"/>
          <c:y val="0.45142375437728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 pitchFamily="34" charset="0"/>
              <a:ea typeface="Inter" panose="020B0502030000000004" pitchFamily="34" charset="0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0967741935483872"/>
          <c:y val="0.25086092791955217"/>
          <c:w val="0.4724517547289489"/>
          <c:h val="0.70867763209342338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AC-4370-97D0-3FDCF8FCE203}"/>
              </c:ext>
            </c:extLst>
          </c:dPt>
          <c:dPt>
            <c:idx val="1"/>
            <c:bubble3D val="0"/>
            <c:spPr>
              <a:solidFill>
                <a:srgbClr val="4409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AC-4370-97D0-3FDCF8FCE20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AC-4370-97D0-3FDCF8FCE20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3AC-4370-97D0-3FDCF8FCE203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3AC-4370-97D0-3FDCF8FCE20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3AC-4370-97D0-3FDCF8FCE203}"/>
                </c:ext>
              </c:extLst>
            </c:dLbl>
            <c:spPr>
              <a:solidFill>
                <a:srgbClr val="FFFFFF"/>
              </a:solidFill>
              <a:ln>
                <a:solidFill>
                  <a:srgbClr val="030124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</c:v>
                </c:pt>
                <c:pt idx="1">
                  <c:v>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3AC-4370-97D0-3FDCF8FC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67741935483872"/>
          <c:y val="0.25086092791955217"/>
          <c:w val="0.4724517547289489"/>
          <c:h val="0.70867763209342338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1B-4D67-B949-A6E772A90289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1B-4D67-B949-A6E772A9028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D1B-4D67-B949-A6E772A9028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D1B-4D67-B949-A6E772A90289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D1B-4D67-B949-A6E772A9028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D1B-4D67-B949-A6E772A90289}"/>
                </c:ext>
              </c:extLst>
            </c:dLbl>
            <c:spPr>
              <a:solidFill>
                <a:srgbClr val="FFFFFF"/>
              </a:solidFill>
              <a:ln>
                <a:solidFill>
                  <a:srgbClr val="030124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419</c:v>
                </c:pt>
                <c:pt idx="1">
                  <c:v>6497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1B-4D67-B949-A6E772A902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8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1"/>
          <c:order val="1"/>
          <c:tx>
            <c:strRef>
              <c:f>Лист1!$C$1</c:f>
              <c:strCache>
                <c:ptCount val="1"/>
                <c:pt idx="0">
                  <c:v>Общее число уязвимостей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1.974136224726146E-2"/>
                  <c:y val="4.7743409623793214E-3"/>
                </c:manualLayout>
              </c:layout>
              <c:tx>
                <c:rich>
                  <a:bodyPr/>
                  <a:lstStyle/>
                  <a:p>
                    <a:fld id="{D8517FE3-61EE-438B-86CD-B32611B20D58}" type="VALUE">
                      <a:rPr lang="en-US">
                        <a:latin typeface="Inter" panose="020B0502030000000004" pitchFamily="34" charset="0"/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6C-40F4-9CA5-E8AF2829C7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2"/>
                    </a:solidFill>
                    <a:latin typeface="Inter" panose="020B0502030000000004" pitchFamily="34" charset="0"/>
                    <a:ea typeface="Inter" panose="020B05020300000000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30000</c:v>
                </c:pt>
                <c:pt idx="1">
                  <c:v>29000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6C-40F4-9CA5-E8AF2829C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63081416"/>
        <c:axId val="663076824"/>
      </c:barChart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Число релевантных уязвимостей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4.9867983575590732E-4"/>
                  <c:y val="7.8601564180540769E-4"/>
                </c:manualLayout>
              </c:layout>
              <c:tx>
                <c:rich>
                  <a:bodyPr/>
                  <a:lstStyle/>
                  <a:p>
                    <a:fld id="{415F9A1D-955C-4344-9833-D4E81CEAD660}" type="VALUE">
                      <a:rPr lang="en-US" sz="1100">
                        <a:solidFill>
                          <a:schemeClr val="bg1"/>
                        </a:solidFill>
                        <a:latin typeface="Inter" panose="020B0502030000000004" pitchFamily="34" charset="0"/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6C-40F4-9CA5-E8AF2829C7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anchor="ctr" anchorCtr="1">
                <a:no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Inter" panose="020B0502030000000004" pitchFamily="34" charset="0"/>
                    <a:ea typeface="Inter" panose="020B05020300000000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1000</c:v>
                </c:pt>
                <c:pt idx="1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46C-40F4-9CA5-E8AF2829C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2440336"/>
        <c:axId val="132453840"/>
      </c:barChart>
      <c:catAx>
        <c:axId val="663081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2">
                    <a:lumMod val="2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pPr>
            <a:endParaRPr lang="ru-RU"/>
          </a:p>
        </c:txPr>
        <c:crossAx val="663076824"/>
        <c:crosses val="autoZero"/>
        <c:auto val="1"/>
        <c:lblAlgn val="ctr"/>
        <c:lblOffset val="100"/>
        <c:noMultiLvlLbl val="0"/>
      </c:catAx>
      <c:valAx>
        <c:axId val="663076824"/>
        <c:scaling>
          <c:orientation val="minMax"/>
          <c:max val="7000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663081416"/>
        <c:crosses val="autoZero"/>
        <c:crossBetween val="between"/>
      </c:valAx>
      <c:valAx>
        <c:axId val="132453840"/>
        <c:scaling>
          <c:orientation val="minMax"/>
          <c:max val="8000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2440336"/>
        <c:crosses val="max"/>
        <c:crossBetween val="between"/>
      </c:valAx>
      <c:catAx>
        <c:axId val="13244033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24538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2">
                    <a:lumMod val="2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pPr>
            <a:endParaRPr lang="ru-R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bg2">
                  <a:lumMod val="25000"/>
                </a:schemeClr>
              </a:solidFill>
              <a:latin typeface="Inter" panose="020B0502030000000004" pitchFamily="34" charset="0"/>
              <a:ea typeface="Inter" panose="020B05020300000000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2">
              <a:lumMod val="25000"/>
            </a:schemeClr>
          </a:solidFill>
        </a:defRPr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pPr>
            <a:r>
              <a:rPr lang="ru-RU" sz="900" b="1" kern="120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80</a:t>
            </a:r>
            <a:r>
              <a:rPr lang="en-US" sz="900" b="1" kern="120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%</a:t>
            </a:r>
            <a:endParaRPr lang="ru-RU" sz="900" b="1" kern="1200" dirty="0">
              <a:solidFill>
                <a:schemeClr val="tx2"/>
              </a:solidFill>
              <a:latin typeface="Inter" panose="020B0502030000000004" pitchFamily="34" charset="0"/>
              <a:ea typeface="+mn-ea"/>
              <a:cs typeface="+mn-cs"/>
            </a:endParaRPr>
          </a:p>
          <a:p>
            <a:pPr>
              <a:defRPr sz="900">
                <a:latin typeface="Inter" panose="020B0502030000000004" pitchFamily="34" charset="0"/>
                <a:ea typeface="Inter" panose="020B0502030000000004" pitchFamily="34" charset="0"/>
              </a:defRPr>
            </a:pP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утечек носят </a:t>
            </a:r>
            <a:r>
              <a:rPr lang="en-US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“</a:t>
            </a: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гибридный</a:t>
            </a:r>
            <a:r>
              <a:rPr lang="en-US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”</a:t>
            </a:r>
            <a:b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</a:b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характер, когда в краже</a:t>
            </a:r>
            <a:b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</a:b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информации могли </a:t>
            </a:r>
            <a:b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</a:b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участвовать</a:t>
            </a:r>
            <a:b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</a:b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как внешние, так и </a:t>
            </a:r>
            <a:b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</a:b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внутренние нарушители*</a:t>
            </a:r>
          </a:p>
        </c:rich>
      </c:tx>
      <c:layout>
        <c:manualLayout>
          <c:xMode val="edge"/>
          <c:yMode val="edge"/>
          <c:x val="0.29785771194875688"/>
          <c:y val="0.417640177315597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 pitchFamily="34" charset="0"/>
              <a:ea typeface="Inter" panose="020B0502030000000004" pitchFamily="34" charset="0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0967741935483872"/>
          <c:y val="0.25086092791955217"/>
          <c:w val="0.4724517547289489"/>
          <c:h val="0.70867763209342338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Подключено источников угроз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0FC-4AB3-800F-A269C06FF40A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0FC-4AB3-800F-A269C06FF40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0FC-4AB3-800F-A269C06FF40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0FC-4AB3-800F-A269C06FF40A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FC-4AB3-800F-A269C06FF40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FC-4AB3-800F-A269C06FF40A}"/>
                </c:ext>
              </c:extLst>
            </c:dLbl>
            <c:spPr>
              <a:solidFill>
                <a:srgbClr val="FFFFFF"/>
              </a:solidFill>
              <a:ln>
                <a:solidFill>
                  <a:srgbClr val="030124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0FC-4AB3-800F-A269C06FF4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pPr>
            <a:r>
              <a:rPr lang="ru-RU" sz="900" b="1" kern="120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660</a:t>
            </a:r>
            <a:r>
              <a:rPr lang="ru-RU" sz="900" b="1" kern="1200" baseline="0" dirty="0">
                <a:solidFill>
                  <a:schemeClr val="tx2"/>
                </a:solidFill>
                <a:latin typeface="Inter" panose="020B0502030000000004" pitchFamily="34" charset="0"/>
                <a:ea typeface="+mn-ea"/>
                <a:cs typeface="+mn-cs"/>
              </a:rPr>
              <a:t> миллионов</a:t>
            </a:r>
            <a:endParaRPr lang="ru-RU" sz="900" b="1" kern="1200" dirty="0">
              <a:solidFill>
                <a:schemeClr val="tx2"/>
              </a:solidFill>
              <a:latin typeface="Inter" panose="020B0502030000000004" pitchFamily="34" charset="0"/>
              <a:ea typeface="+mn-ea"/>
              <a:cs typeface="+mn-cs"/>
            </a:endParaRPr>
          </a:p>
          <a:p>
            <a:pPr>
              <a:defRPr sz="900">
                <a:latin typeface="Inter" panose="020B0502030000000004" pitchFamily="34" charset="0"/>
                <a:ea typeface="Inter" panose="020B0502030000000004" pitchFamily="34" charset="0"/>
              </a:defRPr>
            </a:pP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из утекших за 2022 год </a:t>
            </a:r>
            <a:b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</a:br>
            <a:r>
              <a:rPr lang="ru-RU" sz="900" b="1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1.4 миллиардов строк </a:t>
            </a:r>
            <a:b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</a:b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являлись данными, </a:t>
            </a:r>
            <a:b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</a:b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относящимися </a:t>
            </a:r>
            <a:b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</a:br>
            <a:r>
              <a:rPr lang="ru-RU" sz="900" b="0" i="0" u="none" strike="noStrike" kern="1200" spc="0" baseline="0" dirty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  <a:cs typeface="Arial Black" panose="020B0604020202020204" pitchFamily="34" charset="0"/>
              </a:rPr>
              <a:t>к гражданам*</a:t>
            </a:r>
          </a:p>
        </c:rich>
      </c:tx>
      <c:layout>
        <c:manualLayout>
          <c:xMode val="edge"/>
          <c:yMode val="edge"/>
          <c:x val="0.31781482029089958"/>
          <c:y val="0.428565502303096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 pitchFamily="34" charset="0"/>
              <a:ea typeface="Inter" panose="020B0502030000000004" pitchFamily="34" charset="0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0967741935483872"/>
          <c:y val="0.25086092791955217"/>
          <c:w val="0.4724517547289489"/>
          <c:h val="0.70867763209342338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Подключено источников угроз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168-4960-AFFC-BF9D1649A9B8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168-4960-AFFC-BF9D1649A9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168-4960-AFFC-BF9D1649A9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168-4960-AFFC-BF9D1649A9B8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168-4960-AFFC-BF9D1649A9B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168-4960-AFFC-BF9D1649A9B8}"/>
                </c:ext>
              </c:extLst>
            </c:dLbl>
            <c:spPr>
              <a:solidFill>
                <a:srgbClr val="FFFFFF"/>
              </a:solidFill>
              <a:ln>
                <a:solidFill>
                  <a:srgbClr val="030124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660</c:v>
                </c:pt>
                <c:pt idx="1">
                  <c:v>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168-4960-AFFC-BF9D1649A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9A93-FF52-4F57-8E8E-BBBEB573945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F7D36-AF74-4AB3-8DE9-E4ADC26ECE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59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Количество блоков как на примере, меняться не будет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276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Можно разбить на несколько слайдов. Количество диаграмм не поменяется. Просьба сделать в двух вариантах: 1. На одном листе 2 диаграммы + текст</a:t>
            </a:r>
          </a:p>
          <a:p>
            <a:r>
              <a:rPr lang="ru-RU" dirty="0"/>
              <a:t>2. На одном листе 1 диаграмма + текст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36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Представить в виде таблицы.</a:t>
            </a:r>
          </a:p>
          <a:p>
            <a:r>
              <a:rPr lang="ru-RU" dirty="0"/>
              <a:t>1 столбец – наименование техники</a:t>
            </a:r>
          </a:p>
          <a:p>
            <a:r>
              <a:rPr lang="ru-RU" dirty="0"/>
              <a:t>2 столбец – числовое значение</a:t>
            </a:r>
          </a:p>
          <a:p>
            <a:r>
              <a:rPr lang="ru-RU" dirty="0"/>
              <a:t>3 столбец – числовое значение</a:t>
            </a:r>
          </a:p>
          <a:p>
            <a:endParaRPr lang="ru-RU" dirty="0"/>
          </a:p>
          <a:p>
            <a:r>
              <a:rPr lang="ru-RU" dirty="0"/>
              <a:t>10 строк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549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Оставить представление альбомным. Поменять цвета в соответствии с корпоративными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500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Каждый квартал мы меняем текст и насыщенность заливки каждого блока, в соответствии с легендой</a:t>
            </a:r>
          </a:p>
          <a:p>
            <a:r>
              <a:rPr lang="ru-RU" dirty="0"/>
              <a:t>Количество блоков неизменно.</a:t>
            </a:r>
          </a:p>
          <a:p>
            <a:r>
              <a:rPr lang="ru-RU" dirty="0"/>
              <a:t>Расположение блоков на ваше усмотрение, можно отойти от представления в виде круга.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426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отображаем основные события за квартал, соответствующие теме заголовка. Можно отобразить в виде временной шкалы.</a:t>
            </a:r>
          </a:p>
          <a:p>
            <a:r>
              <a:rPr lang="ru-RU" dirty="0"/>
              <a:t>Количество событий – макс 8.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537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останется тем же, количество трендов может меняться – макс 8. Расположение блоков на ваше усмотрение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394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Количество может меняться – макс 6. Текс каждого блока следующий – Название группировки и описание.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143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Можно разделить на два слайда. Расположение можете менять. Смысл останется тот же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310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Формат аналогично слайдам 14, 11. Вверху текст, внизу диаграмма. То что подчеркнуто – можно представить в виде отдельных блоков с указанием значений.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763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Количество до 6. Формат каждого блока такой же – место, наименование, картинка, описание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054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Аналогично 14, 11 слайду.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293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Размер текс неизменный. Можно подобрать картинку.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7410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Отобразить с временной шкалой.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701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Аналогично 11, 14 слайду.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B9E044-376E-784B-AB44-B2FDF11A03D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089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Количество блоков неизменно. Расположение и представление на </a:t>
            </a:r>
            <a:r>
              <a:rPr lang="ru-RU"/>
              <a:t>ваше усмотрение.</a:t>
            </a:r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05FE26-3922-449C-8382-8336BC8B34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AECF6B-3AEA-4133-A892-A72D1A815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904C6F-C361-4819-B946-219A9B3EF9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474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46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269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62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463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62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39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52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564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994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52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918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444ED9-7EC6-483A-8ECB-BF8D1D7E0D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0333" r="10333"/>
          <a:stretch/>
        </p:blipFill>
        <p:spPr>
          <a:xfrm rot="5400000" flipH="1">
            <a:off x="-1566070" y="1566068"/>
            <a:ext cx="10691813" cy="7559674"/>
          </a:xfrm>
          <a:prstGeom prst="rect">
            <a:avLst/>
          </a:prstGeom>
        </p:spPr>
      </p:pic>
      <p:sp>
        <p:nvSpPr>
          <p:cNvPr id="14" name="Текст 7">
            <a:extLst>
              <a:ext uri="{FF2B5EF4-FFF2-40B4-BE49-F238E27FC236}">
                <a16:creationId xmlns:a16="http://schemas.microsoft.com/office/drawing/2014/main" id="{BD5DFB79-C21F-F30C-F323-B9B900F87F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192" y="9007014"/>
            <a:ext cx="6060536" cy="43088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2"/>
                </a:solidFill>
                <a:latin typeface="Inter" panose="020B05020300000000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 </a:t>
            </a:r>
          </a:p>
        </p:txBody>
      </p:sp>
      <p:sp>
        <p:nvSpPr>
          <p:cNvPr id="15" name="Заголовок 5">
            <a:extLst>
              <a:ext uri="{FF2B5EF4-FFF2-40B4-BE49-F238E27FC236}">
                <a16:creationId xmlns:a16="http://schemas.microsoft.com/office/drawing/2014/main" id="{993A40B0-F353-6ED2-DB6F-BD2D12463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192" y="6839426"/>
            <a:ext cx="6060536" cy="192283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lnSpc>
                <a:spcPct val="85000"/>
              </a:lnSpc>
              <a:defRPr sz="4900" cap="all" spc="155" baseline="0">
                <a:solidFill>
                  <a:schemeClr val="bg2"/>
                </a:solidFill>
                <a:latin typeface="CoFo Kak Black" pitchFamily="50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95B5464-89FC-4D4E-A7D7-348B5C1CC3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0180" y="471763"/>
            <a:ext cx="2756078" cy="15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85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ол.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C708DD9-CB86-B9AB-FBB3-E0FF0D6CC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394" y="429910"/>
            <a:ext cx="5304568" cy="3216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95000"/>
              </a:lnSpc>
              <a:defRPr lang="ru-RU" sz="2200" b="1" i="0" kern="1200" cap="all" spc="39" baseline="0" dirty="0">
                <a:solidFill>
                  <a:schemeClr val="tx1"/>
                </a:solidFill>
                <a:latin typeface="CoFo Kak Black" pitchFamily="50" charset="0"/>
                <a:ea typeface="+mj-ea"/>
                <a:cs typeface="Arial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3915CF-BC88-249E-550D-0FB5711C53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1A868E-D3B8-9840-A7B6-A7FDB00232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4913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Бол.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C708DD9-CB86-B9AB-FBB3-E0FF0D6CC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394" y="414920"/>
            <a:ext cx="5304568" cy="2631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95000"/>
              </a:lnSpc>
              <a:defRPr lang="ru-RU" sz="1800" b="1" i="0" kern="1200" cap="all" spc="39" baseline="0" dirty="0">
                <a:solidFill>
                  <a:schemeClr val="tx1"/>
                </a:solidFill>
                <a:latin typeface="CoFo Kak Black" pitchFamily="50" charset="0"/>
                <a:ea typeface="+mj-ea"/>
                <a:cs typeface="Arial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F8F2CA3-65A9-4186-8746-B13BFFFDA82D}"/>
              </a:ext>
            </a:extLst>
          </p:cNvPr>
          <p:cNvSpPr/>
          <p:nvPr userDrawn="1"/>
        </p:nvSpPr>
        <p:spPr>
          <a:xfrm>
            <a:off x="333375" y="10029825"/>
            <a:ext cx="6076950" cy="400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>
            <a:noAutofit/>
          </a:bodyPr>
          <a:lstStyle/>
          <a:p>
            <a:pPr algn="l"/>
            <a:endParaRPr lang="ru-RU" sz="1600" dirty="0">
              <a:solidFill>
                <a:schemeClr val="tx1"/>
              </a:solidFill>
              <a:latin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51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Чист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9ABF4E-3B1B-4C42-9ABC-E5C86B0FBFC0}"/>
              </a:ext>
            </a:extLst>
          </p:cNvPr>
          <p:cNvSpPr/>
          <p:nvPr/>
        </p:nvSpPr>
        <p:spPr>
          <a:xfrm>
            <a:off x="6124518" y="2"/>
            <a:ext cx="1435157" cy="816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7" dirty="0">
              <a:latin typeface="Inter" panose="020B05020300000000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4A393C6-FF97-4739-86E4-AEBF7A439D62}"/>
              </a:ext>
            </a:extLst>
          </p:cNvPr>
          <p:cNvSpPr/>
          <p:nvPr/>
        </p:nvSpPr>
        <p:spPr>
          <a:xfrm>
            <a:off x="6124518" y="2"/>
            <a:ext cx="1435157" cy="816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7" dirty="0">
              <a:latin typeface="Inter" panose="020B05020300000000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088A216-A10B-43DA-8BDA-4FF04C648FE5}"/>
              </a:ext>
            </a:extLst>
          </p:cNvPr>
          <p:cNvSpPr/>
          <p:nvPr/>
        </p:nvSpPr>
        <p:spPr>
          <a:xfrm>
            <a:off x="6124518" y="2"/>
            <a:ext cx="1435157" cy="816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7" dirty="0">
              <a:latin typeface="Inter" panose="020B05020300000000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3540FC3-03BB-864C-B238-7612EA6ED1C4}"/>
              </a:ext>
            </a:extLst>
          </p:cNvPr>
          <p:cNvSpPr/>
          <p:nvPr userDrawn="1"/>
        </p:nvSpPr>
        <p:spPr>
          <a:xfrm>
            <a:off x="5344732" y="2"/>
            <a:ext cx="2214943" cy="816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7" dirty="0">
              <a:latin typeface="Inter" panose="020B05020300000000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B54C60C-9BC4-AFF3-EF9E-3B53502868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1A868E-D3B8-9840-A7B6-A7FDB00232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9751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A7382-70E9-4240-9659-2D3DAA4935C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B289F-9D61-4FD2-9F11-37202C7FB0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12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5076F01-654A-5B97-FDD8-6F35D14F2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43779" y="10188921"/>
            <a:ext cx="212659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/>
                </a:solidFill>
                <a:latin typeface="Inter" panose="020B0502030000000004" pitchFamily="34" charset="0"/>
              </a:defRPr>
            </a:lvl1pPr>
          </a:lstStyle>
          <a:p>
            <a:fld id="{BC1A868E-D3B8-9840-A7B6-A7FDB00232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Копирайт текстом" hidden="1">
            <a:extLst>
              <a:ext uri="{FF2B5EF4-FFF2-40B4-BE49-F238E27FC236}">
                <a16:creationId xmlns:a16="http://schemas.microsoft.com/office/drawing/2014/main" id="{DF3CFF12-DD4B-80CC-51FE-7EC20DE4029D}"/>
              </a:ext>
            </a:extLst>
          </p:cNvPr>
          <p:cNvSpPr txBox="1"/>
          <p:nvPr userDrawn="1"/>
        </p:nvSpPr>
        <p:spPr>
          <a:xfrm>
            <a:off x="208435" y="11167107"/>
            <a:ext cx="2611907" cy="12953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403" b="0" i="0" dirty="0">
                <a:solidFill>
                  <a:schemeClr val="bg2">
                    <a:lumMod val="75000"/>
                  </a:schemeClr>
                </a:solidFill>
                <a:effectLst/>
                <a:latin typeface="Arial Nova Light" panose="020B0304020202020204" pitchFamily="34" charset="0"/>
                <a:ea typeface="Inter" panose="020B0502030000000004" pitchFamily="34" charset="0"/>
              </a:rPr>
              <a:t>© 2022 ГК «</a:t>
            </a:r>
            <a:r>
              <a:rPr lang="ru-RU" sz="1403" b="0" i="0" dirty="0" err="1">
                <a:solidFill>
                  <a:schemeClr val="bg2">
                    <a:lumMod val="75000"/>
                  </a:schemeClr>
                </a:solidFill>
                <a:effectLst/>
                <a:latin typeface="Arial Nova Light" panose="020B0304020202020204" pitchFamily="34" charset="0"/>
                <a:ea typeface="Inter" panose="020B0502030000000004" pitchFamily="34" charset="0"/>
              </a:rPr>
              <a:t>Иннотех</a:t>
            </a:r>
            <a:r>
              <a:rPr lang="ru-RU" sz="1403" b="0" i="0" dirty="0">
                <a:solidFill>
                  <a:schemeClr val="bg2">
                    <a:lumMod val="75000"/>
                  </a:schemeClr>
                </a:solidFill>
                <a:effectLst/>
                <a:latin typeface="Arial Nova Light" panose="020B0304020202020204" pitchFamily="34" charset="0"/>
                <a:ea typeface="Inter" panose="020B0502030000000004" pitchFamily="34" charset="0"/>
              </a:rPr>
              <a:t>». Конфиденциальная информация. Все права защищены. Все товарные знаки являются собственностью их владельцев.</a:t>
            </a:r>
            <a:r>
              <a:rPr lang="ru-RU" sz="1403" b="0" i="0" dirty="0">
                <a:solidFill>
                  <a:schemeClr val="bg2">
                    <a:lumMod val="75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endParaRPr lang="ru-RU" sz="1403" b="0" i="0" dirty="0">
              <a:solidFill>
                <a:schemeClr val="bg2">
                  <a:lumMod val="75000"/>
                </a:schemeClr>
              </a:solidFill>
              <a:latin typeface="Arial Nova Light" panose="020B03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3812722-AC9C-40D6-900C-60B5F1F2A0F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0913" y="469900"/>
            <a:ext cx="1563937" cy="9171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FF87E2-9353-0D0A-A04A-14290E5566D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726" y="10222291"/>
            <a:ext cx="5589588" cy="10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1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lnSpc>
          <a:spcPct val="117000"/>
        </a:lnSpc>
        <a:spcAft>
          <a:spcPts val="937"/>
        </a:spcAft>
        <a:defRPr sz="2494">
          <a:latin typeface="+mn-lt"/>
          <a:ea typeface="+mn-ea"/>
          <a:cs typeface="+mn-cs"/>
        </a:defRPr>
      </a:lvl1pPr>
      <a:lvl2pPr marL="564242" indent="-445455" eaLnBrk="1" hangingPunct="1">
        <a:lnSpc>
          <a:spcPct val="117000"/>
        </a:lnSpc>
        <a:spcAft>
          <a:spcPts val="937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2494">
          <a:latin typeface="+mn-lt"/>
          <a:ea typeface="+mn-ea"/>
          <a:cs typeface="+mn-cs"/>
        </a:defRPr>
      </a:lvl2pPr>
      <a:lvl3pPr marL="1425452" eaLnBrk="1" hangingPunct="1">
        <a:lnSpc>
          <a:spcPct val="117000"/>
        </a:lnSpc>
        <a:spcAft>
          <a:spcPts val="937"/>
        </a:spcAft>
        <a:defRPr sz="2494">
          <a:latin typeface="+mn-lt"/>
          <a:ea typeface="+mn-ea"/>
          <a:cs typeface="+mn-cs"/>
        </a:defRPr>
      </a:lvl3pPr>
      <a:lvl4pPr marL="2138181" eaLnBrk="1" hangingPunct="1">
        <a:lnSpc>
          <a:spcPct val="117000"/>
        </a:lnSpc>
        <a:spcAft>
          <a:spcPts val="937"/>
        </a:spcAft>
        <a:defRPr sz="2494">
          <a:latin typeface="+mn-lt"/>
          <a:ea typeface="+mn-ea"/>
          <a:cs typeface="+mn-cs"/>
        </a:defRPr>
      </a:lvl4pPr>
      <a:lvl5pPr marL="2850907" eaLnBrk="1" hangingPunct="1">
        <a:lnSpc>
          <a:spcPct val="117000"/>
        </a:lnSpc>
        <a:spcAft>
          <a:spcPts val="937"/>
        </a:spcAft>
        <a:defRPr sz="2494">
          <a:latin typeface="+mn-lt"/>
          <a:ea typeface="+mn-ea"/>
          <a:cs typeface="+mn-cs"/>
        </a:defRPr>
      </a:lvl5pPr>
      <a:lvl6pPr marL="3563635" eaLnBrk="1" hangingPunct="1">
        <a:defRPr>
          <a:latin typeface="+mn-lt"/>
          <a:ea typeface="+mn-ea"/>
          <a:cs typeface="+mn-cs"/>
        </a:defRPr>
      </a:lvl6pPr>
      <a:lvl7pPr marL="4276360" eaLnBrk="1" hangingPunct="1">
        <a:defRPr>
          <a:latin typeface="+mn-lt"/>
          <a:ea typeface="+mn-ea"/>
          <a:cs typeface="+mn-cs"/>
        </a:defRPr>
      </a:lvl7pPr>
      <a:lvl8pPr marL="4989089" eaLnBrk="1" hangingPunct="1">
        <a:defRPr>
          <a:latin typeface="+mn-lt"/>
          <a:ea typeface="+mn-ea"/>
          <a:cs typeface="+mn-cs"/>
        </a:defRPr>
      </a:lvl8pPr>
      <a:lvl9pPr marL="5701816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712725" eaLnBrk="1" hangingPunct="1">
        <a:defRPr>
          <a:latin typeface="+mn-lt"/>
          <a:ea typeface="+mn-ea"/>
          <a:cs typeface="+mn-cs"/>
        </a:defRPr>
      </a:lvl2pPr>
      <a:lvl3pPr marL="1425452" eaLnBrk="1" hangingPunct="1">
        <a:defRPr>
          <a:latin typeface="+mn-lt"/>
          <a:ea typeface="+mn-ea"/>
          <a:cs typeface="+mn-cs"/>
        </a:defRPr>
      </a:lvl3pPr>
      <a:lvl4pPr marL="2138181" eaLnBrk="1" hangingPunct="1">
        <a:defRPr>
          <a:latin typeface="+mn-lt"/>
          <a:ea typeface="+mn-ea"/>
          <a:cs typeface="+mn-cs"/>
        </a:defRPr>
      </a:lvl4pPr>
      <a:lvl5pPr marL="2850907" eaLnBrk="1" hangingPunct="1">
        <a:defRPr>
          <a:latin typeface="+mn-lt"/>
          <a:ea typeface="+mn-ea"/>
          <a:cs typeface="+mn-cs"/>
        </a:defRPr>
      </a:lvl5pPr>
      <a:lvl6pPr marL="3563635" eaLnBrk="1" hangingPunct="1">
        <a:defRPr>
          <a:latin typeface="+mn-lt"/>
          <a:ea typeface="+mn-ea"/>
          <a:cs typeface="+mn-cs"/>
        </a:defRPr>
      </a:lvl6pPr>
      <a:lvl7pPr marL="4276360" eaLnBrk="1" hangingPunct="1">
        <a:defRPr>
          <a:latin typeface="+mn-lt"/>
          <a:ea typeface="+mn-ea"/>
          <a:cs typeface="+mn-cs"/>
        </a:defRPr>
      </a:lvl7pPr>
      <a:lvl8pPr marL="4989089" eaLnBrk="1" hangingPunct="1">
        <a:defRPr>
          <a:latin typeface="+mn-lt"/>
          <a:ea typeface="+mn-ea"/>
          <a:cs typeface="+mn-cs"/>
        </a:defRPr>
      </a:lvl8pPr>
      <a:lvl9pPr marL="5701816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FD1B3"/>
          </p15:clr>
        </p15:guide>
        <p15:guide id="2" pos="4762">
          <p15:clr>
            <a:srgbClr val="FFD1B3"/>
          </p15:clr>
        </p15:guide>
        <p15:guide id="6" pos="294">
          <p15:clr>
            <a:srgbClr val="FFD1B3"/>
          </p15:clr>
        </p15:guide>
        <p15:guide id="10" pos="612">
          <p15:clr>
            <a:srgbClr val="FFD1B3"/>
          </p15:clr>
        </p15:guide>
        <p15:guide id="11" pos="675">
          <p15:clr>
            <a:srgbClr val="FFD1B3"/>
          </p15:clr>
        </p15:guide>
        <p15:guide id="12" pos="743">
          <p15:clr>
            <a:srgbClr val="FFD1B3"/>
          </p15:clr>
        </p15:guide>
        <p15:guide id="13" pos="814">
          <p15:clr>
            <a:srgbClr val="FFD1B3"/>
          </p15:clr>
        </p15:guide>
        <p15:guide id="14" pos="883">
          <p15:clr>
            <a:srgbClr val="FFD1B3"/>
          </p15:clr>
        </p15:guide>
        <p15:guide id="15" pos="948">
          <p15:clr>
            <a:srgbClr val="FFD1B3"/>
          </p15:clr>
        </p15:guide>
        <p15:guide id="16" pos="1017">
          <p15:clr>
            <a:srgbClr val="FFD1B3"/>
          </p15:clr>
        </p15:guide>
        <p15:guide id="17" pos="1087">
          <p15:clr>
            <a:srgbClr val="FFD1B3"/>
          </p15:clr>
        </p15:guide>
        <p15:guide id="18" pos="1156">
          <p15:clr>
            <a:srgbClr val="FFD1B3"/>
          </p15:clr>
        </p15:guide>
        <p15:guide id="19" pos="1290">
          <p15:clr>
            <a:srgbClr val="FFD1B3"/>
          </p15:clr>
        </p15:guide>
        <p15:guide id="20" pos="1359">
          <p15:clr>
            <a:srgbClr val="FFD1B3"/>
          </p15:clr>
        </p15:guide>
        <p15:guide id="21" pos="1429">
          <p15:clr>
            <a:srgbClr val="FFD1B3"/>
          </p15:clr>
        </p15:guide>
        <p15:guide id="22" pos="1519">
          <p15:clr>
            <a:srgbClr val="FFD1B3"/>
          </p15:clr>
        </p15:guide>
        <p15:guide id="23" pos="1563">
          <p15:clr>
            <a:srgbClr val="FFD1B3"/>
          </p15:clr>
        </p15:guide>
        <p15:guide id="24" pos="1633">
          <p15:clr>
            <a:srgbClr val="FFD1B3"/>
          </p15:clr>
        </p15:guide>
        <p15:guide id="25" pos="1702">
          <p15:clr>
            <a:srgbClr val="FFD1B3"/>
          </p15:clr>
        </p15:guide>
        <p15:guide id="26" pos="1766">
          <p15:clr>
            <a:srgbClr val="FFD1B3"/>
          </p15:clr>
        </p15:guide>
        <p15:guide id="27" pos="1835">
          <p15:clr>
            <a:srgbClr val="FFD1B3"/>
          </p15:clr>
        </p15:guide>
        <p15:guide id="28" pos="1905">
          <p15:clr>
            <a:srgbClr val="FFD1B3"/>
          </p15:clr>
        </p15:guide>
        <p15:guide id="29" pos="1974">
          <p15:clr>
            <a:srgbClr val="FFD1B3"/>
          </p15:clr>
        </p15:guide>
        <p15:guide id="30" pos="2039">
          <p15:clr>
            <a:srgbClr val="FFD1B3"/>
          </p15:clr>
        </p15:guide>
        <p15:guide id="31" pos="2109">
          <p15:clr>
            <a:srgbClr val="FFD1B3"/>
          </p15:clr>
        </p15:guide>
        <p15:guide id="33" pos="2248">
          <p15:clr>
            <a:srgbClr val="FFD1B3"/>
          </p15:clr>
        </p15:guide>
        <p15:guide id="35" pos="2450">
          <p15:clr>
            <a:srgbClr val="FFD1B3"/>
          </p15:clr>
        </p15:guide>
        <p15:guide id="36" pos="2515">
          <p15:clr>
            <a:srgbClr val="FFD1B3"/>
          </p15:clr>
        </p15:guide>
        <p15:guide id="37" pos="2585">
          <p15:clr>
            <a:srgbClr val="FFD1B3"/>
          </p15:clr>
        </p15:guide>
        <p15:guide id="38" pos="2654">
          <p15:clr>
            <a:srgbClr val="FFD1B3"/>
          </p15:clr>
        </p15:guide>
        <p15:guide id="39" pos="2724">
          <p15:clr>
            <a:srgbClr val="FFD1B3"/>
          </p15:clr>
        </p15:guide>
        <p15:guide id="40" pos="2788">
          <p15:clr>
            <a:srgbClr val="FFD1B3"/>
          </p15:clr>
        </p15:guide>
        <p15:guide id="41" pos="2857">
          <p15:clr>
            <a:srgbClr val="FFD1B3"/>
          </p15:clr>
        </p15:guide>
        <p15:guide id="42" pos="2927">
          <p15:clr>
            <a:srgbClr val="FFD1B3"/>
          </p15:clr>
        </p15:guide>
        <p15:guide id="43" pos="2996">
          <p15:clr>
            <a:srgbClr val="FFD1B3"/>
          </p15:clr>
        </p15:guide>
        <p15:guide id="44" pos="3061">
          <p15:clr>
            <a:srgbClr val="FFD1B3"/>
          </p15:clr>
        </p15:guide>
        <p15:guide id="45" pos="3131">
          <p15:clr>
            <a:srgbClr val="FFD1B3"/>
          </p15:clr>
        </p15:guide>
        <p15:guide id="46" pos="3200">
          <p15:clr>
            <a:srgbClr val="FFD1B3"/>
          </p15:clr>
        </p15:guide>
        <p15:guide id="47" pos="3269">
          <p15:clr>
            <a:srgbClr val="FFD1B3"/>
          </p15:clr>
        </p15:guide>
        <p15:guide id="48" pos="3333">
          <p15:clr>
            <a:srgbClr val="FFD1B3"/>
          </p15:clr>
        </p15:guide>
        <p15:guide id="49" pos="3404">
          <p15:clr>
            <a:srgbClr val="FFD1B3"/>
          </p15:clr>
        </p15:guide>
        <p15:guide id="50" pos="3472">
          <p15:clr>
            <a:srgbClr val="FFD1B3"/>
          </p15:clr>
        </p15:guide>
        <p15:guide id="51" pos="3607">
          <p15:clr>
            <a:srgbClr val="FFD1B3"/>
          </p15:clr>
        </p15:guide>
        <p15:guide id="52" pos="3676">
          <p15:clr>
            <a:srgbClr val="FFD1B3"/>
          </p15:clr>
        </p15:guide>
        <p15:guide id="53" pos="3746">
          <p15:clr>
            <a:srgbClr val="FFD1B3"/>
          </p15:clr>
        </p15:guide>
        <p15:guide id="54" pos="3815">
          <p15:clr>
            <a:srgbClr val="FFD1B3"/>
          </p15:clr>
        </p15:guide>
        <p15:guide id="55" pos="3879">
          <p15:clr>
            <a:srgbClr val="FFD1B3"/>
          </p15:clr>
        </p15:guide>
        <p15:guide id="56" pos="3948">
          <p15:clr>
            <a:srgbClr val="FFD1B3"/>
          </p15:clr>
        </p15:guide>
        <p15:guide id="63" pos="4445">
          <p15:clr>
            <a:srgbClr val="FFD1B3"/>
          </p15:clr>
        </p15:guide>
        <p15:guide id="67" orient="horz">
          <p15:clr>
            <a:srgbClr val="FFD1B3"/>
          </p15:clr>
        </p15:guide>
        <p15:guide id="68" orient="horz" pos="6735">
          <p15:clr>
            <a:srgbClr val="FFD1B3"/>
          </p15:clr>
        </p15:guide>
        <p15:guide id="69" orient="horz" pos="283">
          <p15:clr>
            <a:srgbClr val="FFD1B3"/>
          </p15:clr>
        </p15:guide>
        <p15:guide id="71" orient="horz" pos="674">
          <p15:clr>
            <a:srgbClr val="FFD1B3"/>
          </p15:clr>
        </p15:guide>
        <p15:guide id="72" orient="horz" pos="848">
          <p15:clr>
            <a:srgbClr val="FFD1B3"/>
          </p15:clr>
        </p15:guide>
        <p15:guide id="73" orient="horz" pos="1023">
          <p15:clr>
            <a:srgbClr val="FFD1B3"/>
          </p15:clr>
        </p15:guide>
        <p15:guide id="74" orient="horz" pos="1197">
          <p15:clr>
            <a:srgbClr val="FFD1B3"/>
          </p15:clr>
        </p15:guide>
        <p15:guide id="75" orient="horz" pos="1372">
          <p15:clr>
            <a:srgbClr val="FFD1B3"/>
          </p15:clr>
        </p15:guide>
        <p15:guide id="76" orient="horz" pos="1547">
          <p15:clr>
            <a:srgbClr val="FFD1B3"/>
          </p15:clr>
        </p15:guide>
        <p15:guide id="77" orient="horz" pos="1722">
          <p15:clr>
            <a:srgbClr val="FFD1B3"/>
          </p15:clr>
        </p15:guide>
        <p15:guide id="78" orient="horz" pos="1895">
          <p15:clr>
            <a:srgbClr val="FFD1B3"/>
          </p15:clr>
        </p15:guide>
        <p15:guide id="80" orient="horz" pos="2245">
          <p15:clr>
            <a:srgbClr val="FFD1B3"/>
          </p15:clr>
        </p15:guide>
        <p15:guide id="81" orient="horz" pos="2407">
          <p15:clr>
            <a:srgbClr val="FFD1B3"/>
          </p15:clr>
        </p15:guide>
        <p15:guide id="82" orient="horz" pos="2582">
          <p15:clr>
            <a:srgbClr val="FFD1B3"/>
          </p15:clr>
        </p15:guide>
        <p15:guide id="83" orient="horz" pos="2757">
          <p15:clr>
            <a:srgbClr val="FFD1B3"/>
          </p15:clr>
        </p15:guide>
        <p15:guide id="84" orient="horz" pos="2931">
          <p15:clr>
            <a:srgbClr val="FFD1B3"/>
          </p15:clr>
        </p15:guide>
        <p15:guide id="85" orient="horz" pos="3105">
          <p15:clr>
            <a:srgbClr val="FFD1B3"/>
          </p15:clr>
        </p15:guide>
        <p15:guide id="86" orient="horz" pos="3280">
          <p15:clr>
            <a:srgbClr val="FFD1B3"/>
          </p15:clr>
        </p15:guide>
        <p15:guide id="87" orient="horz" pos="3455">
          <p15:clr>
            <a:srgbClr val="FFD1B3"/>
          </p15:clr>
        </p15:guide>
        <p15:guide id="88" orient="horz" pos="3630">
          <p15:clr>
            <a:srgbClr val="FFD1B3"/>
          </p15:clr>
        </p15:guide>
        <p15:guide id="89" orient="horz" pos="3804">
          <p15:clr>
            <a:srgbClr val="FFD1B3"/>
          </p15:clr>
        </p15:guide>
        <p15:guide id="90" orient="horz" pos="3978">
          <p15:clr>
            <a:srgbClr val="FFD1B3"/>
          </p15:clr>
        </p15:guide>
        <p15:guide id="91" orient="horz" pos="4153">
          <p15:clr>
            <a:srgbClr val="FFD1B3"/>
          </p15:clr>
        </p15:guide>
        <p15:guide id="92" orient="horz" pos="4328">
          <p15:clr>
            <a:srgbClr val="FFD1B3"/>
          </p15:clr>
        </p15:guide>
        <p15:guide id="93" orient="horz" pos="4490">
          <p15:clr>
            <a:srgbClr val="FFD1B3"/>
          </p15:clr>
        </p15:guide>
        <p15:guide id="94" orient="horz" pos="4665">
          <p15:clr>
            <a:srgbClr val="FFD1B3"/>
          </p15:clr>
        </p15:guide>
        <p15:guide id="95" orient="horz" pos="4840">
          <p15:clr>
            <a:srgbClr val="FFD1B3"/>
          </p15:clr>
        </p15:guide>
        <p15:guide id="96" orient="horz" pos="5013">
          <p15:clr>
            <a:srgbClr val="FFD1B3"/>
          </p15:clr>
        </p15:guide>
        <p15:guide id="97" orient="horz" pos="5188">
          <p15:clr>
            <a:srgbClr val="FFD1B3"/>
          </p15:clr>
        </p15:guide>
        <p15:guide id="98" orient="horz" pos="5363">
          <p15:clr>
            <a:srgbClr val="FFD1B3"/>
          </p15:clr>
        </p15:guide>
        <p15:guide id="99" orient="horz" pos="5538">
          <p15:clr>
            <a:srgbClr val="FFD1B3"/>
          </p15:clr>
        </p15:guide>
        <p15:guide id="102" orient="horz" pos="6293">
          <p15:clr>
            <a:srgbClr val="FFD1B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8000"/>
            <a:lum/>
          </a:blip>
          <a:srcRect/>
          <a:stretch>
            <a:fillRect l="-36000" r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DB2911-124E-4FE2-AC58-CF14672DD320}"/>
              </a:ext>
            </a:extLst>
          </p:cNvPr>
          <p:cNvSpPr txBox="1"/>
          <p:nvPr/>
        </p:nvSpPr>
        <p:spPr>
          <a:xfrm>
            <a:off x="0" y="4191744"/>
            <a:ext cx="7559675" cy="2308324"/>
          </a:xfrm>
          <a:prstGeom prst="rect">
            <a:avLst/>
          </a:prstGeom>
          <a:solidFill>
            <a:schemeClr val="tx2">
              <a:lumMod val="40000"/>
              <a:lumOff val="60000"/>
              <a:alpha val="86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4000" dirty="0">
              <a:latin typeface="Montserrat" panose="00000500000000000000" pitchFamily="2" charset="-52"/>
            </a:endParaRPr>
          </a:p>
          <a:p>
            <a:pPr algn="ctr"/>
            <a:r>
              <a:rPr lang="ru-RU" sz="3200" dirty="0">
                <a:latin typeface="Montserrat" panose="00000500000000000000" pitchFamily="2" charset="-52"/>
              </a:rPr>
              <a:t>Ежегодный аналитический отчёт </a:t>
            </a:r>
          </a:p>
          <a:p>
            <a:pPr algn="ctr"/>
            <a:r>
              <a:rPr lang="ru-RU" sz="3200" b="1" dirty="0">
                <a:latin typeface="Montserrat" panose="00000500000000000000" pitchFamily="2" charset="-52"/>
              </a:rPr>
              <a:t>«</a:t>
            </a:r>
            <a:r>
              <a:rPr lang="ru-RU" sz="3200" b="1" dirty="0" err="1">
                <a:latin typeface="Montserrat" panose="00000500000000000000" pitchFamily="2" charset="-52"/>
              </a:rPr>
              <a:t>Киберугрозы</a:t>
            </a:r>
            <a:r>
              <a:rPr lang="ru-RU" sz="3200" b="1" dirty="0">
                <a:latin typeface="Montserrat" panose="00000500000000000000" pitchFamily="2" charset="-52"/>
              </a:rPr>
              <a:t> 2025»</a:t>
            </a:r>
            <a:endParaRPr lang="en-US" sz="3200" b="1" dirty="0">
              <a:latin typeface="Montserrat" panose="00000500000000000000" pitchFamily="2" charset="-52"/>
            </a:endParaRPr>
          </a:p>
          <a:p>
            <a:pPr algn="ctr"/>
            <a:endParaRPr lang="en-US" sz="40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53578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F447A95-8EAD-4AC4-A7BC-1A7C2D33B912}"/>
              </a:ext>
            </a:extLst>
          </p:cNvPr>
          <p:cNvSpPr txBox="1"/>
          <p:nvPr/>
        </p:nvSpPr>
        <p:spPr>
          <a:xfrm>
            <a:off x="748145" y="835080"/>
            <a:ext cx="6317673" cy="717119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2800" b="1" i="0" u="none" strike="noStrike" dirty="0">
                <a:solidFill>
                  <a:srgbClr val="030124"/>
                </a:solidFill>
                <a:effectLst/>
                <a:latin typeface="Montserrat" panose="00000500000000000000" pitchFamily="2" charset="-52"/>
              </a:rPr>
              <a:t>СОДЕРЖАНИЕ</a:t>
            </a:r>
            <a:endParaRPr lang="ru-RU" sz="2800" b="0" dirty="0">
              <a:effectLst/>
            </a:endParaRPr>
          </a:p>
          <a:p>
            <a:br>
              <a:rPr lang="ru-RU" b="0" dirty="0">
                <a:effectLst/>
              </a:rPr>
            </a:br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Введение</a:t>
            </a:r>
            <a:endParaRPr lang="en-US" dirty="0">
              <a:solidFill>
                <a:srgbClr val="0038FF"/>
              </a:solidFill>
              <a:latin typeface="Inter" panose="020B0502030000000004"/>
            </a:endParaRPr>
          </a:p>
          <a:p>
            <a:r>
              <a:rPr lang="en-US" b="0" i="0" u="none" strike="noStrike" dirty="0">
                <a:solidFill>
                  <a:srgbClr val="0038FF"/>
                </a:solidFill>
                <a:effectLst/>
                <a:latin typeface="Inter" panose="020B0502030000000004"/>
              </a:rPr>
              <a:t>	</a:t>
            </a:r>
          </a:p>
          <a:p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Основные результаты</a:t>
            </a:r>
          </a:p>
          <a:p>
            <a:endParaRPr lang="ru-RU" dirty="0">
              <a:solidFill>
                <a:srgbClr val="0038FF"/>
              </a:solidFill>
              <a:latin typeface="Montserrat" panose="00000500000000000000" pitchFamily="2" charset="-52"/>
            </a:endParaRPr>
          </a:p>
          <a:p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Покрытие ландшафта угроз</a:t>
            </a:r>
            <a:endParaRPr lang="en-US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endParaRPr lang="en-US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Ландшафт угроз ИБ 2025</a:t>
            </a:r>
            <a:endParaRPr lang="en-US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endParaRPr lang="en-US" b="0" i="0" u="none" strike="noStrike" dirty="0">
              <a:solidFill>
                <a:srgbClr val="0038FF"/>
              </a:solidFill>
              <a:effectLst/>
              <a:latin typeface="Inter" panose="020B0502030000000004"/>
            </a:endParaRPr>
          </a:p>
          <a:p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Атаки на образовательную сферу</a:t>
            </a:r>
            <a:endParaRPr lang="en-US" i="0" u="none" strike="noStrike" dirty="0">
              <a:solidFill>
                <a:srgbClr val="0038FF"/>
              </a:solidFill>
              <a:latin typeface="Inter" panose="020B0502030000000004"/>
            </a:endParaRPr>
          </a:p>
          <a:p>
            <a:br>
              <a:rPr lang="ru-RU" b="0" dirty="0">
                <a:effectLst/>
              </a:rPr>
            </a:br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Активные APT-группировки </a:t>
            </a:r>
            <a:endParaRPr lang="en-US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endParaRPr lang="en-US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Вредоносное ПО</a:t>
            </a:r>
            <a:endParaRPr lang="en-US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endParaRPr lang="en-US" dirty="0">
              <a:solidFill>
                <a:srgbClr val="0038FF"/>
              </a:solidFill>
              <a:latin typeface="Montserrat" panose="00000500000000000000" pitchFamily="2" charset="-52"/>
            </a:endParaRPr>
          </a:p>
          <a:p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Уязвимости</a:t>
            </a:r>
            <a:endParaRPr lang="en-US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endParaRPr lang="ru-RU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Утечки</a:t>
            </a:r>
          </a:p>
          <a:p>
            <a:endParaRPr lang="ru-RU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r>
              <a:rPr lang="en-US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Supply chain</a:t>
            </a:r>
            <a:endParaRPr lang="ru-RU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endParaRPr lang="ru-RU" b="0" i="0" u="none" strike="noStrike" dirty="0">
              <a:solidFill>
                <a:srgbClr val="0038FF"/>
              </a:solidFill>
              <a:effectLst/>
              <a:latin typeface="Montserrat" panose="00000500000000000000" pitchFamily="2" charset="-52"/>
            </a:endParaRPr>
          </a:p>
          <a:p>
            <a:r>
              <a:rPr lang="en-US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DDoS-</a:t>
            </a:r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атаки</a:t>
            </a:r>
          </a:p>
          <a:p>
            <a:br>
              <a:rPr lang="ru-RU" b="0" dirty="0">
                <a:effectLst/>
              </a:rPr>
            </a:br>
            <a:r>
              <a:rPr lang="ru-RU" b="0" i="0" u="none" strike="noStrike" dirty="0">
                <a:solidFill>
                  <a:srgbClr val="0038FF"/>
                </a:solidFill>
                <a:effectLst/>
                <a:latin typeface="Montserrat" panose="00000500000000000000" pitchFamily="2" charset="-52"/>
              </a:rPr>
              <a:t>Прогноз 2026</a:t>
            </a:r>
          </a:p>
        </p:txBody>
      </p:sp>
      <p:pic>
        <p:nvPicPr>
          <p:cNvPr id="3" name="Google Shape;116;p19">
            <a:extLst>
              <a:ext uri="{FF2B5EF4-FFF2-40B4-BE49-F238E27FC236}">
                <a16:creationId xmlns:a16="http://schemas.microsoft.com/office/drawing/2014/main" id="{146A6610-3430-4931-A5C4-55796E7A1D9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402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30">
            <a:extLst>
              <a:ext uri="{FF2B5EF4-FFF2-40B4-BE49-F238E27FC236}">
                <a16:creationId xmlns:a16="http://schemas.microsoft.com/office/drawing/2014/main" id="{E322FCCA-DAF2-4D42-96D6-19071B7E5138}"/>
              </a:ext>
            </a:extLst>
          </p:cNvPr>
          <p:cNvSpPr>
            <a:spLocks/>
          </p:cNvSpPr>
          <p:nvPr/>
        </p:nvSpPr>
        <p:spPr>
          <a:xfrm>
            <a:off x="3741998" y="6157630"/>
            <a:ext cx="3209279" cy="1728000"/>
          </a:xfrm>
          <a:prstGeom prst="roundRect">
            <a:avLst>
              <a:gd name="adj" fmla="val 9508"/>
            </a:avLst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tlCol="0" anchor="t"/>
          <a:lstStyle/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CoFo Kak Black" pitchFamily="50" charset="0"/>
                <a:ea typeface="Inter" panose="020B0502030000000004" pitchFamily="34" charset="0"/>
                <a:cs typeface="+mn-cs"/>
              </a:rPr>
              <a:t>500</a:t>
            </a:r>
          </a:p>
        </p:txBody>
      </p:sp>
      <p:sp>
        <p:nvSpPr>
          <p:cNvPr id="12" name="Скругленный прямоугольник 30">
            <a:extLst>
              <a:ext uri="{FF2B5EF4-FFF2-40B4-BE49-F238E27FC236}">
                <a16:creationId xmlns:a16="http://schemas.microsoft.com/office/drawing/2014/main" id="{2E2DA275-ABE7-4627-A64E-136B4D0821AD}"/>
              </a:ext>
            </a:extLst>
          </p:cNvPr>
          <p:cNvSpPr>
            <a:spLocks/>
          </p:cNvSpPr>
          <p:nvPr/>
        </p:nvSpPr>
        <p:spPr>
          <a:xfrm>
            <a:off x="347233" y="6176538"/>
            <a:ext cx="3209279" cy="1709092"/>
          </a:xfrm>
          <a:prstGeom prst="roundRect">
            <a:avLst>
              <a:gd name="adj" fmla="val 9508"/>
            </a:avLst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tlCol="0" anchor="t"/>
          <a:lstStyle/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CoFo Kak Black" pitchFamily="50" charset="0"/>
                <a:ea typeface="Inter" panose="020B0502030000000004" pitchFamily="34" charset="0"/>
                <a:cs typeface="+mn-cs"/>
              </a:rPr>
              <a:t>400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9453CE75-7591-4690-A043-E68AD6B08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94" y="429910"/>
            <a:ext cx="5304568" cy="643253"/>
          </a:xfrm>
        </p:spPr>
        <p:txBody>
          <a:bodyPr/>
          <a:lstStyle/>
          <a:p>
            <a:r>
              <a:rPr lang="ru-RU" dirty="0"/>
              <a:t>Основные </a:t>
            </a:r>
            <a:br>
              <a:rPr lang="en-US" dirty="0">
                <a:latin typeface="Inter" panose="020B0502030000000004"/>
              </a:rPr>
            </a:br>
            <a:r>
              <a:rPr lang="ru-RU" dirty="0"/>
              <a:t>результаты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51A8F45-1998-419F-B540-4A5F5182FA66}"/>
              </a:ext>
            </a:extLst>
          </p:cNvPr>
          <p:cNvSpPr/>
          <p:nvPr/>
        </p:nvSpPr>
        <p:spPr>
          <a:xfrm>
            <a:off x="3968593" y="6932538"/>
            <a:ext cx="2832744" cy="7386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Создано корреляционных правил на основании продуктов аналитики </a:t>
            </a:r>
            <a:endParaRPr kumimoji="0" lang="en" sz="1600" b="0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0B4FE5-4164-4392-B09D-70F0954617F0}"/>
              </a:ext>
            </a:extLst>
          </p:cNvPr>
          <p:cNvSpPr/>
          <p:nvPr/>
        </p:nvSpPr>
        <p:spPr>
          <a:xfrm>
            <a:off x="573827" y="6932538"/>
            <a:ext cx="2488973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Разработано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продуктов аналитики</a:t>
            </a:r>
            <a:endParaRPr kumimoji="0" lang="en" sz="1600" b="0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graphicFrame>
        <p:nvGraphicFramePr>
          <p:cNvPr id="18" name="Диаграмма 17">
            <a:extLst>
              <a:ext uri="{FF2B5EF4-FFF2-40B4-BE49-F238E27FC236}">
                <a16:creationId xmlns:a16="http://schemas.microsoft.com/office/drawing/2014/main" id="{E0D8AAFB-23D4-407A-B52D-EDA7CC2DAF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994544"/>
              </p:ext>
            </p:extLst>
          </p:nvPr>
        </p:nvGraphicFramePr>
        <p:xfrm>
          <a:off x="249910" y="1715953"/>
          <a:ext cx="5139170" cy="1709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23F5558A-1448-4ABA-BC91-609DABA03C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790904"/>
              </p:ext>
            </p:extLst>
          </p:nvPr>
        </p:nvGraphicFramePr>
        <p:xfrm>
          <a:off x="347233" y="3855421"/>
          <a:ext cx="5139168" cy="1871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4" name="Google Shape;116;p19">
            <a:extLst>
              <a:ext uri="{FF2B5EF4-FFF2-40B4-BE49-F238E27FC236}">
                <a16:creationId xmlns:a16="http://schemas.microsoft.com/office/drawing/2014/main" id="{2EFE2551-A2F2-423F-9009-906FA2DA8DE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0352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Диаграмма 17">
            <a:extLst>
              <a:ext uri="{FF2B5EF4-FFF2-40B4-BE49-F238E27FC236}">
                <a16:creationId xmlns:a16="http://schemas.microsoft.com/office/drawing/2014/main" id="{161A4FAB-5037-448E-A63D-7BD8D77331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032268"/>
              </p:ext>
            </p:extLst>
          </p:nvPr>
        </p:nvGraphicFramePr>
        <p:xfrm>
          <a:off x="-1685095" y="1640422"/>
          <a:ext cx="7262912" cy="2652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6F9BA3D7-578D-472D-8C5F-1A23C3ACAE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9492301"/>
              </p:ext>
            </p:extLst>
          </p:nvPr>
        </p:nvGraphicFramePr>
        <p:xfrm>
          <a:off x="-1685095" y="4419802"/>
          <a:ext cx="7272436" cy="2656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D3B7297B-21A5-493C-B497-A6C4485661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472910"/>
              </p:ext>
            </p:extLst>
          </p:nvPr>
        </p:nvGraphicFramePr>
        <p:xfrm>
          <a:off x="-1685095" y="7229674"/>
          <a:ext cx="7272435" cy="2656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9CE64-B624-4100-AB68-5428D5C93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94" y="429910"/>
            <a:ext cx="5304568" cy="643253"/>
          </a:xfrm>
        </p:spPr>
        <p:txBody>
          <a:bodyPr/>
          <a:lstStyle/>
          <a:p>
            <a:pPr>
              <a:tabLst>
                <a:tab pos="1528763" algn="l"/>
              </a:tabLst>
            </a:pPr>
            <a:r>
              <a:rPr lang="ru-RU" dirty="0"/>
              <a:t>Основные </a:t>
            </a:r>
            <a:br>
              <a:rPr lang="en-US" dirty="0"/>
            </a:br>
            <a:r>
              <a:rPr lang="ru-RU" dirty="0"/>
              <a:t>результаты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2AEF4-46BC-46A5-A61B-A7D8EE2C05DD}"/>
              </a:ext>
            </a:extLst>
          </p:cNvPr>
          <p:cNvSpPr txBox="1"/>
          <p:nvPr/>
        </p:nvSpPr>
        <p:spPr>
          <a:xfrm>
            <a:off x="204902" y="2238385"/>
            <a:ext cx="65" cy="3894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37"/>
              </a:spcAft>
              <a:buClrTx/>
              <a:buSzTx/>
              <a:buFontTx/>
              <a:buNone/>
              <a:tabLst/>
              <a:defRPr/>
            </a:pPr>
            <a:endParaRPr kumimoji="0" lang="ru-RU" sz="2494" b="0" i="0" u="none" strike="noStrike" kern="0" cap="none" spc="0" normalizeH="0" baseline="0" noProof="0" dirty="0" err="1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31CAC3EC-F3C8-4778-AB09-21A8DAA21901}"/>
              </a:ext>
            </a:extLst>
          </p:cNvPr>
          <p:cNvSpPr txBox="1"/>
          <p:nvPr/>
        </p:nvSpPr>
        <p:spPr>
          <a:xfrm>
            <a:off x="2669050" y="5133112"/>
            <a:ext cx="4542895" cy="18174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Применимы: 111</a:t>
            </a:r>
          </a:p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Наиболее резонансные уязвимости</a:t>
            </a:r>
            <a:r>
              <a:rPr kumimoji="0" lang="ru-RU" sz="1000" b="1" i="0" u="none" strike="noStrike" kern="1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:</a:t>
            </a:r>
            <a:endParaRPr kumimoji="0" lang="en-US" sz="1000" b="1" i="0" u="none" strike="noStrike" kern="1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171450" marR="0" lvl="0" indent="-17145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CVE-2023-32434, CVE-2023-32439 –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уязвимости, использовавшиеся в целевой атаке на пользователей устройств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Apple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171450" marR="0" lvl="0" indent="-17145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CVE-2023-28252 –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уязвимость, связанная с повышением привилегий до уровня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SYSTEM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в драйвере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Windows Common Log File System (CLFS)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.</a:t>
            </a:r>
          </a:p>
          <a:p>
            <a:pPr marL="171450" marR="0" lvl="0" indent="-17145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CVE-2023-3029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–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0-day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уязвимость в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Google Chrome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,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которая позволяет удаленному злоумышленнику потенциально использовать повреждение кучи через созданную HTML-страницу.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171450" marR="0" lvl="0" indent="-17145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4F0F91BF-BB69-4DDC-990D-D61BC19515B9}"/>
              </a:ext>
            </a:extLst>
          </p:cNvPr>
          <p:cNvSpPr txBox="1"/>
          <p:nvPr/>
        </p:nvSpPr>
        <p:spPr>
          <a:xfrm>
            <a:off x="2669050" y="3055768"/>
            <a:ext cx="3758621" cy="2572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3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Релевантные: 200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F796B63C-DE07-4C66-9A0C-EF9A549E5A16}"/>
              </a:ext>
            </a:extLst>
          </p:cNvPr>
          <p:cNvSpPr txBox="1"/>
          <p:nvPr/>
        </p:nvSpPr>
        <p:spPr>
          <a:xfrm>
            <a:off x="2669050" y="8557694"/>
            <a:ext cx="4790297" cy="52809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5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Выявлено утечек данных </a:t>
            </a:r>
            <a:br>
              <a:rPr kumimoji="0" lang="en-US" sz="1600" b="1" i="0" u="none" strike="noStrike" kern="5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</a:br>
            <a:r>
              <a:rPr kumimoji="0" lang="ru-RU" sz="1600" b="1" i="0" u="none" strike="noStrike" kern="5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ООО «</a:t>
            </a:r>
            <a:r>
              <a:rPr kumimoji="0" lang="ru-RU" sz="1600" b="1" i="0" u="none" strike="noStrike" kern="500" cap="none" spc="0" normalizeH="0" baseline="0" noProof="0" dirty="0" err="1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Инсека</a:t>
            </a:r>
            <a:r>
              <a:rPr kumimoji="0" lang="ru-RU" sz="1600" b="1" i="0" u="none" strike="noStrike" kern="5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»: 0</a:t>
            </a:r>
            <a:endParaRPr kumimoji="0" lang="en-US" sz="1600" b="1" i="0" u="none" strike="noStrike" kern="500" cap="none" spc="0" normalizeH="0" baseline="0" noProof="0" dirty="0">
              <a:ln>
                <a:noFill/>
              </a:ln>
              <a:solidFill>
                <a:srgbClr val="FF6903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CFA0705-350E-49FB-A82C-85E953E39E83}"/>
              </a:ext>
            </a:extLst>
          </p:cNvPr>
          <p:cNvCxnSpPr>
            <a:cxnSpLocks/>
          </p:cNvCxnSpPr>
          <p:nvPr/>
        </p:nvCxnSpPr>
        <p:spPr>
          <a:xfrm>
            <a:off x="477815" y="7544990"/>
            <a:ext cx="660404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9A509835-63F5-45CF-92BC-7450D89A71FE}"/>
              </a:ext>
            </a:extLst>
          </p:cNvPr>
          <p:cNvCxnSpPr>
            <a:cxnSpLocks/>
          </p:cNvCxnSpPr>
          <p:nvPr/>
        </p:nvCxnSpPr>
        <p:spPr>
          <a:xfrm>
            <a:off x="452394" y="4649989"/>
            <a:ext cx="660404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0301666-3855-4259-8F56-95274B50979E}"/>
              </a:ext>
            </a:extLst>
          </p:cNvPr>
          <p:cNvCxnSpPr>
            <a:cxnSpLocks/>
          </p:cNvCxnSpPr>
          <p:nvPr/>
        </p:nvCxnSpPr>
        <p:spPr>
          <a:xfrm>
            <a:off x="452394" y="1880172"/>
            <a:ext cx="660404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B70F18-CB0A-4E61-B608-B2FD8E708B62}"/>
              </a:ext>
            </a:extLst>
          </p:cNvPr>
          <p:cNvSpPr/>
          <p:nvPr/>
        </p:nvSpPr>
        <p:spPr>
          <a:xfrm>
            <a:off x="347730" y="7128300"/>
            <a:ext cx="6903076" cy="2180976"/>
          </a:xfrm>
          <a:prstGeom prst="rect">
            <a:avLst/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108000" rIns="108000" bIns="108000" rtlCol="0" anchor="t">
            <a:no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5" name="Google Shape;116;p19">
            <a:extLst>
              <a:ext uri="{FF2B5EF4-FFF2-40B4-BE49-F238E27FC236}">
                <a16:creationId xmlns:a16="http://schemas.microsoft.com/office/drawing/2014/main" id="{99B0857F-D0CD-4CDA-9156-C778D6F3C55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595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83899C-6C38-4ACC-8496-01B962BF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94" y="429910"/>
            <a:ext cx="5304568" cy="643253"/>
          </a:xfrm>
        </p:spPr>
        <p:txBody>
          <a:bodyPr/>
          <a:lstStyle/>
          <a:p>
            <a:r>
              <a:rPr lang="ru-RU" dirty="0"/>
              <a:t>Покрытие </a:t>
            </a:r>
            <a:br>
              <a:rPr lang="en-US" dirty="0"/>
            </a:br>
            <a:r>
              <a:rPr lang="ru-RU" dirty="0"/>
              <a:t>ландшафта угроз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82CE6E8-5656-4665-A16A-9AFDDAF5D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526365"/>
              </p:ext>
            </p:extLst>
          </p:nvPr>
        </p:nvGraphicFramePr>
        <p:xfrm>
          <a:off x="475227" y="2353272"/>
          <a:ext cx="6581211" cy="74085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05844">
                  <a:extLst>
                    <a:ext uri="{9D8B030D-6E8A-4147-A177-3AD203B41FA5}">
                      <a16:colId xmlns:a16="http://schemas.microsoft.com/office/drawing/2014/main" val="3534527401"/>
                    </a:ext>
                  </a:extLst>
                </a:gridCol>
                <a:gridCol w="4639142">
                  <a:extLst>
                    <a:ext uri="{9D8B030D-6E8A-4147-A177-3AD203B41FA5}">
                      <a16:colId xmlns:a16="http://schemas.microsoft.com/office/drawing/2014/main" val="3872069414"/>
                    </a:ext>
                  </a:extLst>
                </a:gridCol>
                <a:gridCol w="736225">
                  <a:extLst>
                    <a:ext uri="{9D8B030D-6E8A-4147-A177-3AD203B41FA5}">
                      <a16:colId xmlns:a16="http://schemas.microsoft.com/office/drawing/2014/main" val="2650479982"/>
                    </a:ext>
                  </a:extLst>
                </a:gridCol>
              </a:tblGrid>
              <a:tr h="673500">
                <a:tc>
                  <a:txBody>
                    <a:bodyPr/>
                    <a:lstStyle/>
                    <a:p>
                      <a:pPr marL="0" algn="l" eaLnBrk="1" fontAlgn="b" hangingPunct="1"/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Техника</a:t>
                      </a:r>
                      <a:endParaRPr lang="en-US" sz="1200" b="1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  <a:cs typeface="+mn-cs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eaLnBrk="1" fontAlgn="b" hangingPunct="1"/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Название техники</a:t>
                      </a:r>
                      <a:endParaRPr lang="en-US" sz="1200" b="1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  <a:cs typeface="+mn-cs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fontAlgn="b" hangingPunct="1"/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Кол-во</a:t>
                      </a: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590680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T1059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Использование интерпретаторов командной строки и сценариев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/>
                      <a:r>
                        <a:rPr lang="ru-RU" sz="1600" b="1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100</a:t>
                      </a:r>
                      <a:endParaRPr lang="ru-RU" sz="1600" b="1" i="0" u="none" strike="noStrike" dirty="0">
                        <a:solidFill>
                          <a:schemeClr val="tx2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43579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</a:t>
                      </a:r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1566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Фишинг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90</a:t>
                      </a:r>
                      <a:endParaRPr lang="ru-RU" sz="1600" b="1" i="0" u="none" strike="noStrike" dirty="0">
                        <a:solidFill>
                          <a:schemeClr val="tx2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141896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T1</a:t>
                      </a:r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2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21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Внедрение в шаблоны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i="0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80</a:t>
                      </a: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853371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T1</a:t>
                      </a:r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538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Кража сессионных куки</a:t>
                      </a: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i="0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70</a:t>
                      </a: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08710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T1</a:t>
                      </a:r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557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Человек посередине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60</a:t>
                      </a:r>
                      <a:endParaRPr lang="ru-RU" sz="1600" b="1" i="0" u="none" strike="noStrike" dirty="0">
                        <a:solidFill>
                          <a:schemeClr val="tx2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818438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T10</a:t>
                      </a:r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36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Маскировка под легального пользователя или инструмент</a:t>
                      </a: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50</a:t>
                      </a:r>
                      <a:endParaRPr lang="ru-RU" sz="1600" b="1" i="0" u="none" strike="noStrike" dirty="0">
                        <a:solidFill>
                          <a:schemeClr val="tx2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671238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T1053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Запланированная задача (задание)</a:t>
                      </a: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40</a:t>
                      </a:r>
                      <a:endParaRPr lang="ru-RU" sz="1600" b="1" i="0" u="none" strike="noStrike" dirty="0">
                        <a:solidFill>
                          <a:schemeClr val="tx2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386751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T1</a:t>
                      </a:r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534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Внутренний целевой фишинг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30</a:t>
                      </a:r>
                      <a:endParaRPr lang="ru-RU" sz="1600" b="1" i="0" u="none" strike="noStrike" dirty="0">
                        <a:solidFill>
                          <a:schemeClr val="tx2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009217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T15</a:t>
                      </a:r>
                      <a:r>
                        <a:rPr lang="ru-RU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80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Исследование облачной инфраструктуры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i="0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20</a:t>
                      </a: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17697"/>
                  </a:ext>
                </a:extLst>
              </a:tr>
              <a:tr h="673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T1</a:t>
                      </a:r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  <a:cs typeface="+mn-cs"/>
                        </a:rPr>
                        <a:t>210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Эксплуатация удаленных служб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i="0" u="none" strike="noStrike" dirty="0">
                          <a:solidFill>
                            <a:schemeClr val="tx2"/>
                          </a:solidFill>
                          <a:effectLst/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10</a:t>
                      </a:r>
                    </a:p>
                  </a:txBody>
                  <a:tcPr marL="14849" marR="14849" marT="148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5765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FF022F-8B12-4F7E-A216-4C89DD85857A}"/>
              </a:ext>
            </a:extLst>
          </p:cNvPr>
          <p:cNvSpPr txBox="1"/>
          <p:nvPr/>
        </p:nvSpPr>
        <p:spPr>
          <a:xfrm>
            <a:off x="452394" y="1418329"/>
            <a:ext cx="6604044" cy="5935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l" defTabSz="995507" rtl="0" eaLnBrk="1" fontAlgn="b" latinLnBrk="0" hangingPunct="1">
              <a:lnSpc>
                <a:spcPct val="110000"/>
              </a:lnSpc>
              <a:spcBef>
                <a:spcPts val="0"/>
              </a:spcBef>
              <a:spcAft>
                <a:spcPts val="937"/>
              </a:spcAft>
              <a:buClr>
                <a:srgbClr val="0038FF"/>
              </a:buClr>
              <a:buSzPct val="120000"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10 наиболее встречающихся техник MITRE ATT&amp;CK </a:t>
            </a:r>
            <a:b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</a:b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в подготовленных отчётах</a:t>
            </a:r>
          </a:p>
        </p:txBody>
      </p:sp>
      <p:pic>
        <p:nvPicPr>
          <p:cNvPr id="9" name="Google Shape;116;p19">
            <a:extLst>
              <a:ext uri="{FF2B5EF4-FFF2-40B4-BE49-F238E27FC236}">
                <a16:creationId xmlns:a16="http://schemas.microsoft.com/office/drawing/2014/main" id="{015BE9CA-9D53-476B-B7F2-1A6C1AAA35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14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Прямоугольник 312">
            <a:extLst>
              <a:ext uri="{FF2B5EF4-FFF2-40B4-BE49-F238E27FC236}">
                <a16:creationId xmlns:a16="http://schemas.microsoft.com/office/drawing/2014/main" id="{7A870BC9-9D65-4FC3-B3B6-7EC8EB0BCEB5}"/>
              </a:ext>
            </a:extLst>
          </p:cNvPr>
          <p:cNvSpPr/>
          <p:nvPr/>
        </p:nvSpPr>
        <p:spPr>
          <a:xfrm>
            <a:off x="500261" y="8743661"/>
            <a:ext cx="206327" cy="200379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168375" rtlCol="0" anchor="ctr"/>
          <a:lstStyle/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314" name="Text Placeholder 3">
            <a:extLst>
              <a:ext uri="{FF2B5EF4-FFF2-40B4-BE49-F238E27FC236}">
                <a16:creationId xmlns:a16="http://schemas.microsoft.com/office/drawing/2014/main" id="{212FA6FD-369B-4CC5-B136-EA1CBDF64EC9}"/>
              </a:ext>
            </a:extLst>
          </p:cNvPr>
          <p:cNvSpPr txBox="1">
            <a:spLocks/>
          </p:cNvSpPr>
          <p:nvPr/>
        </p:nvSpPr>
        <p:spPr>
          <a:xfrm>
            <a:off x="812608" y="8777493"/>
            <a:ext cx="2320663" cy="138499"/>
          </a:xfrm>
          <a:prstGeom prst="rect">
            <a:avLst/>
          </a:prstGeom>
        </p:spPr>
        <p:txBody>
          <a:bodyPr wrap="square" lIns="0" tIns="0" rIns="168375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just" defTabSz="9955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Не защищены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E1E1E1">
                  <a:lumMod val="25000"/>
                </a:srgbClr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317" name="Прямоугольник 316">
            <a:extLst>
              <a:ext uri="{FF2B5EF4-FFF2-40B4-BE49-F238E27FC236}">
                <a16:creationId xmlns:a16="http://schemas.microsoft.com/office/drawing/2014/main" id="{8761AE1D-A4C1-461F-8678-44C3D3AA6347}"/>
              </a:ext>
            </a:extLst>
          </p:cNvPr>
          <p:cNvSpPr/>
          <p:nvPr/>
        </p:nvSpPr>
        <p:spPr>
          <a:xfrm>
            <a:off x="500261" y="9062368"/>
            <a:ext cx="206327" cy="200379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168375" rtlCol="0" anchor="ctr"/>
          <a:lstStyle/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9703FE">
                  <a:lumMod val="60000"/>
                  <a:lumOff val="40000"/>
                </a:srgbClr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318" name="Text Placeholder 3">
            <a:extLst>
              <a:ext uri="{FF2B5EF4-FFF2-40B4-BE49-F238E27FC236}">
                <a16:creationId xmlns:a16="http://schemas.microsoft.com/office/drawing/2014/main" id="{502C140F-BE23-4ED3-B6EB-8F7826E373E9}"/>
              </a:ext>
            </a:extLst>
          </p:cNvPr>
          <p:cNvSpPr txBox="1">
            <a:spLocks/>
          </p:cNvSpPr>
          <p:nvPr/>
        </p:nvSpPr>
        <p:spPr>
          <a:xfrm>
            <a:off x="812609" y="9096201"/>
            <a:ext cx="2362267" cy="138499"/>
          </a:xfrm>
          <a:prstGeom prst="rect">
            <a:avLst/>
          </a:prstGeom>
        </p:spPr>
        <p:txBody>
          <a:bodyPr wrap="square" lIns="0" tIns="0" rIns="168375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just" defTabSz="9955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Защищены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E1E1E1">
                  <a:lumMod val="25000"/>
                </a:srgbClr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7A7EB17-ABFF-48DB-95F5-ABD01CB2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94" y="429910"/>
            <a:ext cx="5304568" cy="643253"/>
          </a:xfrm>
        </p:spPr>
        <p:txBody>
          <a:bodyPr/>
          <a:lstStyle/>
          <a:p>
            <a:r>
              <a:rPr lang="ru-RU" dirty="0"/>
              <a:t>Покрытие </a:t>
            </a:r>
            <a:br>
              <a:rPr lang="en-US" dirty="0"/>
            </a:br>
            <a:r>
              <a:rPr lang="ru-RU" dirty="0"/>
              <a:t>ландшафта угроз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BC8426B-4987-F6D8-C25C-A6F251F30ED8}"/>
              </a:ext>
            </a:extLst>
          </p:cNvPr>
          <p:cNvSpPr>
            <a:spLocks noChangeAspect="1"/>
          </p:cNvSpPr>
          <p:nvPr/>
        </p:nvSpPr>
        <p:spPr>
          <a:xfrm>
            <a:off x="527629" y="9428274"/>
            <a:ext cx="166312" cy="1663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68375" rIns="168375" bIns="168375" rtlCol="0" anchor="t">
            <a:no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E88F85E-E31E-ACBE-0BDE-F9D421A6B7E5}"/>
              </a:ext>
            </a:extLst>
          </p:cNvPr>
          <p:cNvSpPr txBox="1">
            <a:spLocks/>
          </p:cNvSpPr>
          <p:nvPr/>
        </p:nvSpPr>
        <p:spPr>
          <a:xfrm>
            <a:off x="811290" y="9430732"/>
            <a:ext cx="2694605" cy="138499"/>
          </a:xfrm>
          <a:prstGeom prst="rect">
            <a:avLst/>
          </a:prstGeom>
        </p:spPr>
        <p:txBody>
          <a:bodyPr wrap="square" lIns="0" tIns="0" rIns="168375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just" defTabSz="9955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ТОП в продуктах аналитики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E1E1E1">
                  <a:lumMod val="25000"/>
                </a:srgbClr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E5FFC4B-BD36-44B3-88A9-49C89F172280}"/>
              </a:ext>
            </a:extLst>
          </p:cNvPr>
          <p:cNvGrpSpPr/>
          <p:nvPr/>
        </p:nvGrpSpPr>
        <p:grpSpPr>
          <a:xfrm>
            <a:off x="246644" y="1534254"/>
            <a:ext cx="7043040" cy="2772845"/>
            <a:chOff x="246644" y="1534254"/>
            <a:chExt cx="7043040" cy="2772845"/>
          </a:xfrm>
        </p:grpSpPr>
        <p:sp>
          <p:nvSpPr>
            <p:cNvPr id="232" name="Rectangle 10">
              <a:extLst>
                <a:ext uri="{FF2B5EF4-FFF2-40B4-BE49-F238E27FC236}">
                  <a16:creationId xmlns:a16="http://schemas.microsoft.com/office/drawing/2014/main" id="{64A95A97-F3D8-6045-8023-1936A1438CC6}"/>
                </a:ext>
              </a:extLst>
            </p:cNvPr>
            <p:cNvSpPr>
              <a:spLocks/>
            </p:cNvSpPr>
            <p:nvPr/>
          </p:nvSpPr>
          <p:spPr>
            <a:xfrm flipH="1">
              <a:off x="247151" y="2601530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Valid Accounts</a:t>
              </a:r>
            </a:p>
          </p:txBody>
        </p:sp>
        <p:sp>
          <p:nvSpPr>
            <p:cNvPr id="11" name="Rectangle 10"/>
            <p:cNvSpPr>
              <a:spLocks/>
            </p:cNvSpPr>
            <p:nvPr/>
          </p:nvSpPr>
          <p:spPr>
            <a:xfrm flipH="1">
              <a:off x="246644" y="1534254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Initial </a:t>
              </a:r>
              <a:b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Access</a:t>
              </a:r>
            </a:p>
          </p:txBody>
        </p:sp>
        <p:sp>
          <p:nvSpPr>
            <p:cNvPr id="372" name="Rectangle 10"/>
            <p:cNvSpPr>
              <a:spLocks/>
            </p:cNvSpPr>
            <p:nvPr/>
          </p:nvSpPr>
          <p:spPr>
            <a:xfrm flipH="1">
              <a:off x="1420569" y="1534254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Execution</a:t>
              </a:r>
            </a:p>
          </p:txBody>
        </p:sp>
        <p:sp>
          <p:nvSpPr>
            <p:cNvPr id="619" name="Rectangle 10"/>
            <p:cNvSpPr>
              <a:spLocks/>
            </p:cNvSpPr>
            <p:nvPr/>
          </p:nvSpPr>
          <p:spPr>
            <a:xfrm flipH="1">
              <a:off x="2588516" y="2257491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Boot or Logon </a:t>
              </a:r>
              <a:br>
                <a:rPr kumimoji="0" lang="ru-RU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</a:br>
              <a:r>
                <a:rPr kumimoji="0" 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Autostart</a:t>
              </a: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 Execution</a:t>
              </a:r>
            </a:p>
          </p:txBody>
        </p:sp>
        <p:sp>
          <p:nvSpPr>
            <p:cNvPr id="620" name="Rectangle 10"/>
            <p:cNvSpPr>
              <a:spLocks/>
            </p:cNvSpPr>
            <p:nvPr/>
          </p:nvSpPr>
          <p:spPr>
            <a:xfrm flipH="1">
              <a:off x="2595001" y="2948812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Create Account</a:t>
              </a:r>
            </a:p>
          </p:txBody>
        </p:sp>
        <p:sp>
          <p:nvSpPr>
            <p:cNvPr id="616" name="Rectangle 10"/>
            <p:cNvSpPr>
              <a:spLocks/>
            </p:cNvSpPr>
            <p:nvPr/>
          </p:nvSpPr>
          <p:spPr>
            <a:xfrm flipH="1">
              <a:off x="2594493" y="1534254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Persistence</a:t>
              </a:r>
            </a:p>
          </p:txBody>
        </p:sp>
        <p:sp>
          <p:nvSpPr>
            <p:cNvPr id="667" name="Rectangle 10"/>
            <p:cNvSpPr>
              <a:spLocks/>
            </p:cNvSpPr>
            <p:nvPr/>
          </p:nvSpPr>
          <p:spPr>
            <a:xfrm flipH="1">
              <a:off x="3768418" y="1534254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Privilege Escalation</a:t>
              </a:r>
            </a:p>
          </p:txBody>
        </p:sp>
        <p:sp>
          <p:nvSpPr>
            <p:cNvPr id="741" name="Rectangle 10"/>
            <p:cNvSpPr>
              <a:spLocks/>
            </p:cNvSpPr>
            <p:nvPr/>
          </p:nvSpPr>
          <p:spPr>
            <a:xfrm flipH="1">
              <a:off x="4942343" y="1534254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Defense </a:t>
              </a:r>
              <a:b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Evasion</a:t>
              </a:r>
            </a:p>
          </p:txBody>
        </p:sp>
        <p:sp>
          <p:nvSpPr>
            <p:cNvPr id="1117" name="Rectangle 10"/>
            <p:cNvSpPr>
              <a:spLocks/>
            </p:cNvSpPr>
            <p:nvPr/>
          </p:nvSpPr>
          <p:spPr>
            <a:xfrm flipH="1">
              <a:off x="6116268" y="1534254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Credential Access</a:t>
              </a:r>
            </a:p>
          </p:txBody>
        </p:sp>
        <p:sp>
          <p:nvSpPr>
            <p:cNvPr id="816" name="Rectangle 10">
              <a:extLst>
                <a:ext uri="{FF2B5EF4-FFF2-40B4-BE49-F238E27FC236}">
                  <a16:creationId xmlns:a16="http://schemas.microsoft.com/office/drawing/2014/main" id="{33C8E125-CE0D-453A-AB71-0E52DB69BAFC}"/>
                </a:ext>
              </a:extLst>
            </p:cNvPr>
            <p:cNvSpPr>
              <a:spLocks/>
            </p:cNvSpPr>
            <p:nvPr/>
          </p:nvSpPr>
          <p:spPr>
            <a:xfrm flipH="1">
              <a:off x="2594493" y="1913910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Account Manipulation</a:t>
              </a:r>
            </a:p>
          </p:txBody>
        </p:sp>
        <p:sp>
          <p:nvSpPr>
            <p:cNvPr id="817" name="Rectangle 10">
              <a:extLst>
                <a:ext uri="{FF2B5EF4-FFF2-40B4-BE49-F238E27FC236}">
                  <a16:creationId xmlns:a16="http://schemas.microsoft.com/office/drawing/2014/main" id="{68C0FF61-9428-423E-B4F1-AEC0D5457D6C}"/>
                </a:ext>
              </a:extLst>
            </p:cNvPr>
            <p:cNvSpPr>
              <a:spLocks/>
            </p:cNvSpPr>
            <p:nvPr/>
          </p:nvSpPr>
          <p:spPr>
            <a:xfrm flipH="1">
              <a:off x="2595001" y="2606519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Boot or Logon Initialization Scripts</a:t>
              </a:r>
            </a:p>
          </p:txBody>
        </p:sp>
        <p:sp>
          <p:nvSpPr>
            <p:cNvPr id="818" name="Rectangle 10">
              <a:extLst>
                <a:ext uri="{FF2B5EF4-FFF2-40B4-BE49-F238E27FC236}">
                  <a16:creationId xmlns:a16="http://schemas.microsoft.com/office/drawing/2014/main" id="{1C38F4F2-BC73-4A02-9112-A8F68558523C}"/>
                </a:ext>
              </a:extLst>
            </p:cNvPr>
            <p:cNvSpPr>
              <a:spLocks/>
            </p:cNvSpPr>
            <p:nvPr/>
          </p:nvSpPr>
          <p:spPr>
            <a:xfrm flipH="1">
              <a:off x="2595001" y="3288892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Create or Modify System Process</a:t>
              </a:r>
            </a:p>
          </p:txBody>
        </p:sp>
        <p:sp>
          <p:nvSpPr>
            <p:cNvPr id="819" name="Rectangle 10">
              <a:extLst>
                <a:ext uri="{FF2B5EF4-FFF2-40B4-BE49-F238E27FC236}">
                  <a16:creationId xmlns:a16="http://schemas.microsoft.com/office/drawing/2014/main" id="{B2C1F2CF-6852-4C80-A62C-11D9DF53C097}"/>
                </a:ext>
              </a:extLst>
            </p:cNvPr>
            <p:cNvSpPr>
              <a:spLocks/>
            </p:cNvSpPr>
            <p:nvPr/>
          </p:nvSpPr>
          <p:spPr>
            <a:xfrm flipH="1">
              <a:off x="2587575" y="3965300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Hijack Execution Flow</a:t>
              </a:r>
            </a:p>
          </p:txBody>
        </p:sp>
        <p:sp>
          <p:nvSpPr>
            <p:cNvPr id="1569" name="Rectangle 10">
              <a:extLst>
                <a:ext uri="{FF2B5EF4-FFF2-40B4-BE49-F238E27FC236}">
                  <a16:creationId xmlns:a16="http://schemas.microsoft.com/office/drawing/2014/main" id="{EE6F116F-7F30-4BF2-8400-6C4318EAF583}"/>
                </a:ext>
              </a:extLst>
            </p:cNvPr>
            <p:cNvSpPr>
              <a:spLocks/>
            </p:cNvSpPr>
            <p:nvPr/>
          </p:nvSpPr>
          <p:spPr>
            <a:xfrm flipH="1">
              <a:off x="3768672" y="2261741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Access Token Manipulation</a:t>
              </a:r>
            </a:p>
          </p:txBody>
        </p:sp>
        <p:sp>
          <p:nvSpPr>
            <p:cNvPr id="1571" name="Rectangle 10">
              <a:extLst>
                <a:ext uri="{FF2B5EF4-FFF2-40B4-BE49-F238E27FC236}">
                  <a16:creationId xmlns:a16="http://schemas.microsoft.com/office/drawing/2014/main" id="{61335C09-E138-4886-902C-329A0B992EFA}"/>
                </a:ext>
              </a:extLst>
            </p:cNvPr>
            <p:cNvSpPr>
              <a:spLocks/>
            </p:cNvSpPr>
            <p:nvPr/>
          </p:nvSpPr>
          <p:spPr>
            <a:xfrm flipH="1">
              <a:off x="3768418" y="3294533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Create or Modify System Process</a:t>
              </a:r>
            </a:p>
          </p:txBody>
        </p:sp>
        <p:sp>
          <p:nvSpPr>
            <p:cNvPr id="1572" name="Rectangle 10">
              <a:extLst>
                <a:ext uri="{FF2B5EF4-FFF2-40B4-BE49-F238E27FC236}">
                  <a16:creationId xmlns:a16="http://schemas.microsoft.com/office/drawing/2014/main" id="{5C6F7306-5BBA-4265-90CF-774D81A17163}"/>
                </a:ext>
              </a:extLst>
            </p:cNvPr>
            <p:cNvSpPr>
              <a:spLocks/>
            </p:cNvSpPr>
            <p:nvPr/>
          </p:nvSpPr>
          <p:spPr>
            <a:xfrm flipH="1">
              <a:off x="3768418" y="3628851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Exploitation for Privilege Escalation</a:t>
              </a:r>
            </a:p>
          </p:txBody>
        </p:sp>
        <p:sp>
          <p:nvSpPr>
            <p:cNvPr id="1576" name="Rectangle 10">
              <a:extLst>
                <a:ext uri="{FF2B5EF4-FFF2-40B4-BE49-F238E27FC236}">
                  <a16:creationId xmlns:a16="http://schemas.microsoft.com/office/drawing/2014/main" id="{F89982A5-B644-4861-B352-0A197AF95A3A}"/>
                </a:ext>
              </a:extLst>
            </p:cNvPr>
            <p:cNvSpPr>
              <a:spLocks/>
            </p:cNvSpPr>
            <p:nvPr/>
          </p:nvSpPr>
          <p:spPr>
            <a:xfrm flipH="1">
              <a:off x="3774902" y="2605659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Boot or Logon </a:t>
              </a:r>
              <a:br>
                <a:rPr kumimoji="0" lang="ru-RU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Autostart</a:t>
              </a: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 Execution</a:t>
              </a:r>
            </a:p>
          </p:txBody>
        </p:sp>
        <p:sp>
          <p:nvSpPr>
            <p:cNvPr id="1577" name="Rectangle 10">
              <a:extLst>
                <a:ext uri="{FF2B5EF4-FFF2-40B4-BE49-F238E27FC236}">
                  <a16:creationId xmlns:a16="http://schemas.microsoft.com/office/drawing/2014/main" id="{32579276-896D-4635-854F-8C467A11351E}"/>
                </a:ext>
              </a:extLst>
            </p:cNvPr>
            <p:cNvSpPr>
              <a:spLocks/>
            </p:cNvSpPr>
            <p:nvPr/>
          </p:nvSpPr>
          <p:spPr>
            <a:xfrm flipH="1">
              <a:off x="3768418" y="1913647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Abuse Elevation Control Mechanism</a:t>
              </a:r>
            </a:p>
          </p:txBody>
        </p:sp>
        <p:sp>
          <p:nvSpPr>
            <p:cNvPr id="1605" name="Rectangle 10">
              <a:extLst>
                <a:ext uri="{FF2B5EF4-FFF2-40B4-BE49-F238E27FC236}">
                  <a16:creationId xmlns:a16="http://schemas.microsoft.com/office/drawing/2014/main" id="{83531939-2493-4D4D-BFE0-8AD15ED1D966}"/>
                </a:ext>
              </a:extLst>
            </p:cNvPr>
            <p:cNvSpPr>
              <a:spLocks/>
            </p:cNvSpPr>
            <p:nvPr/>
          </p:nvSpPr>
          <p:spPr>
            <a:xfrm flipH="1">
              <a:off x="6116268" y="1913910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Brute Force</a:t>
              </a:r>
            </a:p>
          </p:txBody>
        </p:sp>
        <p:sp>
          <p:nvSpPr>
            <p:cNvPr id="1570" name="Rectangle 10">
              <a:extLst>
                <a:ext uri="{FF2B5EF4-FFF2-40B4-BE49-F238E27FC236}">
                  <a16:creationId xmlns:a16="http://schemas.microsoft.com/office/drawing/2014/main" id="{92CD9D11-A228-475B-8642-6EB3297A3F24}"/>
                </a:ext>
              </a:extLst>
            </p:cNvPr>
            <p:cNvSpPr>
              <a:spLocks/>
            </p:cNvSpPr>
            <p:nvPr/>
          </p:nvSpPr>
          <p:spPr>
            <a:xfrm flipH="1">
              <a:off x="3768418" y="2947232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Boot or Logon Initialization Scripts</a:t>
              </a:r>
            </a:p>
          </p:txBody>
        </p:sp>
        <p:sp>
          <p:nvSpPr>
            <p:cNvPr id="341" name="Rectangle 10">
              <a:extLst>
                <a:ext uri="{FF2B5EF4-FFF2-40B4-BE49-F238E27FC236}">
                  <a16:creationId xmlns:a16="http://schemas.microsoft.com/office/drawing/2014/main" id="{F54FD956-E992-6945-A517-73CC660DAD45}"/>
                </a:ext>
              </a:extLst>
            </p:cNvPr>
            <p:cNvSpPr>
              <a:spLocks/>
            </p:cNvSpPr>
            <p:nvPr/>
          </p:nvSpPr>
          <p:spPr>
            <a:xfrm flipH="1">
              <a:off x="4942343" y="1913910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Abuse Elevation Control Mechanism</a:t>
              </a:r>
            </a:p>
          </p:txBody>
        </p:sp>
        <p:sp>
          <p:nvSpPr>
            <p:cNvPr id="342" name="Rectangle 10">
              <a:extLst>
                <a:ext uri="{FF2B5EF4-FFF2-40B4-BE49-F238E27FC236}">
                  <a16:creationId xmlns:a16="http://schemas.microsoft.com/office/drawing/2014/main" id="{00BE5D20-38AB-AC43-80AD-32588C28CD6E}"/>
                </a:ext>
              </a:extLst>
            </p:cNvPr>
            <p:cNvSpPr>
              <a:spLocks/>
            </p:cNvSpPr>
            <p:nvPr/>
          </p:nvSpPr>
          <p:spPr>
            <a:xfrm flipH="1">
              <a:off x="4942343" y="2262557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Access Token Manipulation</a:t>
              </a:r>
            </a:p>
          </p:txBody>
        </p:sp>
        <p:sp>
          <p:nvSpPr>
            <p:cNvPr id="1599" name="Rectangle 10">
              <a:extLst>
                <a:ext uri="{FF2B5EF4-FFF2-40B4-BE49-F238E27FC236}">
                  <a16:creationId xmlns:a16="http://schemas.microsoft.com/office/drawing/2014/main" id="{C62A28D0-9B56-4092-A176-0B9E92F5C723}"/>
                </a:ext>
              </a:extLst>
            </p:cNvPr>
            <p:cNvSpPr>
              <a:spLocks/>
            </p:cNvSpPr>
            <p:nvPr/>
          </p:nvSpPr>
          <p:spPr>
            <a:xfrm flipH="1">
              <a:off x="6116268" y="2605560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Input Capture</a:t>
              </a:r>
            </a:p>
          </p:txBody>
        </p:sp>
        <p:sp>
          <p:nvSpPr>
            <p:cNvPr id="1600" name="Rectangle 10">
              <a:extLst>
                <a:ext uri="{FF2B5EF4-FFF2-40B4-BE49-F238E27FC236}">
                  <a16:creationId xmlns:a16="http://schemas.microsoft.com/office/drawing/2014/main" id="{94AB4CFF-0F4F-4B48-B833-9C7F70C2DAAE}"/>
                </a:ext>
              </a:extLst>
            </p:cNvPr>
            <p:cNvSpPr>
              <a:spLocks/>
            </p:cNvSpPr>
            <p:nvPr/>
          </p:nvSpPr>
          <p:spPr>
            <a:xfrm flipH="1">
              <a:off x="6116268" y="2951743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Adversary-in-the-Middle</a:t>
              </a:r>
            </a:p>
          </p:txBody>
        </p:sp>
        <p:sp>
          <p:nvSpPr>
            <p:cNvPr id="1606" name="Rectangle 10">
              <a:extLst>
                <a:ext uri="{FF2B5EF4-FFF2-40B4-BE49-F238E27FC236}">
                  <a16:creationId xmlns:a16="http://schemas.microsoft.com/office/drawing/2014/main" id="{A4D051EB-D585-4A2B-BB5D-C135A21700F3}"/>
                </a:ext>
              </a:extLst>
            </p:cNvPr>
            <p:cNvSpPr>
              <a:spLocks/>
            </p:cNvSpPr>
            <p:nvPr/>
          </p:nvSpPr>
          <p:spPr>
            <a:xfrm flipH="1">
              <a:off x="6116268" y="2262557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Credentials from Password Stores</a:t>
              </a:r>
            </a:p>
          </p:txBody>
        </p:sp>
        <p:sp>
          <p:nvSpPr>
            <p:cNvPr id="360" name="Rectangle 10">
              <a:extLst>
                <a:ext uri="{FF2B5EF4-FFF2-40B4-BE49-F238E27FC236}">
                  <a16:creationId xmlns:a16="http://schemas.microsoft.com/office/drawing/2014/main" id="{40D3B65B-8550-7B4E-BDCA-71370D62A1FB}"/>
                </a:ext>
              </a:extLst>
            </p:cNvPr>
            <p:cNvSpPr>
              <a:spLocks/>
            </p:cNvSpPr>
            <p:nvPr/>
          </p:nvSpPr>
          <p:spPr>
            <a:xfrm flipH="1">
              <a:off x="3768418" y="3967962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Hijack Execution Flow</a:t>
              </a:r>
            </a:p>
          </p:txBody>
        </p:sp>
        <p:sp>
          <p:nvSpPr>
            <p:cNvPr id="370" name="Rectangle 10">
              <a:extLst>
                <a:ext uri="{FF2B5EF4-FFF2-40B4-BE49-F238E27FC236}">
                  <a16:creationId xmlns:a16="http://schemas.microsoft.com/office/drawing/2014/main" id="{9B2BD7D9-4B76-E443-870C-C102B11BF634}"/>
                </a:ext>
              </a:extLst>
            </p:cNvPr>
            <p:cNvSpPr>
              <a:spLocks/>
            </p:cNvSpPr>
            <p:nvPr/>
          </p:nvSpPr>
          <p:spPr>
            <a:xfrm flipH="1">
              <a:off x="1420569" y="2605560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Inter-Process Communication</a:t>
              </a:r>
            </a:p>
          </p:txBody>
        </p:sp>
        <p:sp>
          <p:nvSpPr>
            <p:cNvPr id="378" name="Rectangle 10">
              <a:extLst>
                <a:ext uri="{FF2B5EF4-FFF2-40B4-BE49-F238E27FC236}">
                  <a16:creationId xmlns:a16="http://schemas.microsoft.com/office/drawing/2014/main" id="{C8C23637-4758-2A41-BDD6-958938106490}"/>
                </a:ext>
              </a:extLst>
            </p:cNvPr>
            <p:cNvSpPr>
              <a:spLocks/>
            </p:cNvSpPr>
            <p:nvPr/>
          </p:nvSpPr>
          <p:spPr>
            <a:xfrm flipH="1">
              <a:off x="1420569" y="1913910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Command and Scripting Interpreter</a:t>
              </a:r>
            </a:p>
          </p:txBody>
        </p:sp>
        <p:sp>
          <p:nvSpPr>
            <p:cNvPr id="379" name="Rectangle 10">
              <a:extLst>
                <a:ext uri="{FF2B5EF4-FFF2-40B4-BE49-F238E27FC236}">
                  <a16:creationId xmlns:a16="http://schemas.microsoft.com/office/drawing/2014/main" id="{75C7C837-AE02-2E41-9677-B90A800EA0AD}"/>
                </a:ext>
              </a:extLst>
            </p:cNvPr>
            <p:cNvSpPr>
              <a:spLocks/>
            </p:cNvSpPr>
            <p:nvPr/>
          </p:nvSpPr>
          <p:spPr>
            <a:xfrm flipH="1">
              <a:off x="1420569" y="2262557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Exploitation for Client Execution</a:t>
              </a:r>
            </a:p>
          </p:txBody>
        </p:sp>
        <p:sp>
          <p:nvSpPr>
            <p:cNvPr id="385" name="Rectangle 10">
              <a:extLst>
                <a:ext uri="{FF2B5EF4-FFF2-40B4-BE49-F238E27FC236}">
                  <a16:creationId xmlns:a16="http://schemas.microsoft.com/office/drawing/2014/main" id="{86DAE495-0A9D-154C-B504-269D879EEDBA}"/>
                </a:ext>
              </a:extLst>
            </p:cNvPr>
            <p:cNvSpPr>
              <a:spLocks/>
            </p:cNvSpPr>
            <p:nvPr/>
          </p:nvSpPr>
          <p:spPr>
            <a:xfrm flipH="1">
              <a:off x="1426545" y="2953117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User Execution</a:t>
              </a:r>
            </a:p>
          </p:txBody>
        </p:sp>
        <p:sp>
          <p:nvSpPr>
            <p:cNvPr id="386" name="Rectangle 10">
              <a:extLst>
                <a:ext uri="{FF2B5EF4-FFF2-40B4-BE49-F238E27FC236}">
                  <a16:creationId xmlns:a16="http://schemas.microsoft.com/office/drawing/2014/main" id="{B76B2E20-8624-8D46-BDB5-DBE0208AE9A5}"/>
                </a:ext>
              </a:extLst>
            </p:cNvPr>
            <p:cNvSpPr>
              <a:spLocks/>
            </p:cNvSpPr>
            <p:nvPr/>
          </p:nvSpPr>
          <p:spPr>
            <a:xfrm flipH="1">
              <a:off x="1420569" y="3296288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Windows </a:t>
              </a:r>
              <a:br>
                <a:rPr kumimoji="0" lang="ru-RU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Management Instrumentation</a:t>
              </a:r>
            </a:p>
          </p:txBody>
        </p:sp>
        <p:sp>
          <p:nvSpPr>
            <p:cNvPr id="393" name="Rectangle 10">
              <a:extLst>
                <a:ext uri="{FF2B5EF4-FFF2-40B4-BE49-F238E27FC236}">
                  <a16:creationId xmlns:a16="http://schemas.microsoft.com/office/drawing/2014/main" id="{E7ED1F18-AC4E-C14B-961A-05BE5B5BC6EF}"/>
                </a:ext>
              </a:extLst>
            </p:cNvPr>
            <p:cNvSpPr>
              <a:spLocks/>
            </p:cNvSpPr>
            <p:nvPr/>
          </p:nvSpPr>
          <p:spPr>
            <a:xfrm flipH="1">
              <a:off x="246644" y="1913910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Drive-by </a:t>
              </a:r>
              <a:endParaRPr kumimoji="0" lang="ru-RU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Compromise</a:t>
              </a:r>
            </a:p>
          </p:txBody>
        </p:sp>
        <p:sp>
          <p:nvSpPr>
            <p:cNvPr id="395" name="Rectangle 10">
              <a:extLst>
                <a:ext uri="{FF2B5EF4-FFF2-40B4-BE49-F238E27FC236}">
                  <a16:creationId xmlns:a16="http://schemas.microsoft.com/office/drawing/2014/main" id="{FFC7BADD-0AD7-554F-B0E1-DE1B14E38AA8}"/>
                </a:ext>
              </a:extLst>
            </p:cNvPr>
            <p:cNvSpPr>
              <a:spLocks/>
            </p:cNvSpPr>
            <p:nvPr/>
          </p:nvSpPr>
          <p:spPr>
            <a:xfrm flipH="1">
              <a:off x="247151" y="2261467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Supply Chain Compromise</a:t>
              </a:r>
            </a:p>
          </p:txBody>
        </p:sp>
        <p:sp>
          <p:nvSpPr>
            <p:cNvPr id="948" name="Овал 947">
              <a:extLst>
                <a:ext uri="{FF2B5EF4-FFF2-40B4-BE49-F238E27FC236}">
                  <a16:creationId xmlns:a16="http://schemas.microsoft.com/office/drawing/2014/main" id="{F9A0552C-C9D5-49FD-8E85-7E071F42A7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1554" y="1965193"/>
              <a:ext cx="93880" cy="93880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8375" rIns="168375" bIns="168375" rtlCol="0" anchor="t">
              <a:noAutofit/>
            </a:bodyPr>
            <a:lstStyle/>
            <a:p>
              <a:pPr marL="0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82" name="Rectangle 10">
              <a:extLst>
                <a:ext uri="{FF2B5EF4-FFF2-40B4-BE49-F238E27FC236}">
                  <a16:creationId xmlns:a16="http://schemas.microsoft.com/office/drawing/2014/main" id="{CFE58112-1C44-4712-B09E-7E105D1DB4CE}"/>
                </a:ext>
              </a:extLst>
            </p:cNvPr>
            <p:cNvSpPr>
              <a:spLocks/>
            </p:cNvSpPr>
            <p:nvPr/>
          </p:nvSpPr>
          <p:spPr>
            <a:xfrm flipH="1">
              <a:off x="249097" y="2949225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External Remote Services</a:t>
              </a:r>
            </a:p>
          </p:txBody>
        </p:sp>
        <p:sp>
          <p:nvSpPr>
            <p:cNvPr id="184" name="Rectangle 10">
              <a:extLst>
                <a:ext uri="{FF2B5EF4-FFF2-40B4-BE49-F238E27FC236}">
                  <a16:creationId xmlns:a16="http://schemas.microsoft.com/office/drawing/2014/main" id="{DB3E79AE-D996-4EC4-A7EF-A985331AB4DA}"/>
                </a:ext>
              </a:extLst>
            </p:cNvPr>
            <p:cNvSpPr>
              <a:spLocks/>
            </p:cNvSpPr>
            <p:nvPr/>
          </p:nvSpPr>
          <p:spPr>
            <a:xfrm flipH="1">
              <a:off x="2603431" y="3634774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Event Triggered Execution</a:t>
              </a:r>
            </a:p>
          </p:txBody>
        </p:sp>
        <p:sp>
          <p:nvSpPr>
            <p:cNvPr id="429" name="Rectangle 10">
              <a:extLst>
                <a:ext uri="{FF2B5EF4-FFF2-40B4-BE49-F238E27FC236}">
                  <a16:creationId xmlns:a16="http://schemas.microsoft.com/office/drawing/2014/main" id="{A4D9EAF7-0719-4D0D-B3A4-2CCD77C15484}"/>
                </a:ext>
              </a:extLst>
            </p:cNvPr>
            <p:cNvSpPr>
              <a:spLocks/>
            </p:cNvSpPr>
            <p:nvPr/>
          </p:nvSpPr>
          <p:spPr>
            <a:xfrm flipH="1">
              <a:off x="6121736" y="3297939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Modify Authentication Process</a:t>
              </a:r>
            </a:p>
          </p:txBody>
        </p:sp>
        <p:sp>
          <p:nvSpPr>
            <p:cNvPr id="430" name="Rectangle 10">
              <a:extLst>
                <a:ext uri="{FF2B5EF4-FFF2-40B4-BE49-F238E27FC236}">
                  <a16:creationId xmlns:a16="http://schemas.microsoft.com/office/drawing/2014/main" id="{5ABD57BF-A62C-4CDD-A2F9-6153C714E56E}"/>
                </a:ext>
              </a:extLst>
            </p:cNvPr>
            <p:cNvSpPr>
              <a:spLocks/>
            </p:cNvSpPr>
            <p:nvPr/>
          </p:nvSpPr>
          <p:spPr>
            <a:xfrm flipH="1">
              <a:off x="6121736" y="3628793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Steal Web Session Cookie</a:t>
              </a:r>
            </a:p>
          </p:txBody>
        </p:sp>
        <p:sp>
          <p:nvSpPr>
            <p:cNvPr id="214" name="Rectangle 10">
              <a:extLst>
                <a:ext uri="{FF2B5EF4-FFF2-40B4-BE49-F238E27FC236}">
                  <a16:creationId xmlns:a16="http://schemas.microsoft.com/office/drawing/2014/main" id="{1FC535EF-6CDB-40E4-8E8C-B59E11BEC7D1}"/>
                </a:ext>
              </a:extLst>
            </p:cNvPr>
            <p:cNvSpPr>
              <a:spLocks/>
            </p:cNvSpPr>
            <p:nvPr/>
          </p:nvSpPr>
          <p:spPr>
            <a:xfrm flipH="1">
              <a:off x="4948319" y="2605793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Trusted Developer Utilities Proxy Execution</a:t>
              </a:r>
            </a:p>
          </p:txBody>
        </p:sp>
        <p:sp>
          <p:nvSpPr>
            <p:cNvPr id="219" name="Rectangle 10">
              <a:extLst>
                <a:ext uri="{FF2B5EF4-FFF2-40B4-BE49-F238E27FC236}">
                  <a16:creationId xmlns:a16="http://schemas.microsoft.com/office/drawing/2014/main" id="{D08F455E-EC2E-45C8-B2B5-1C98B62B1392}"/>
                </a:ext>
              </a:extLst>
            </p:cNvPr>
            <p:cNvSpPr>
              <a:spLocks/>
            </p:cNvSpPr>
            <p:nvPr/>
          </p:nvSpPr>
          <p:spPr>
            <a:xfrm flipH="1">
              <a:off x="4948319" y="2946671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Debugger Evasion</a:t>
              </a:r>
            </a:p>
          </p:txBody>
        </p:sp>
        <p:sp>
          <p:nvSpPr>
            <p:cNvPr id="225" name="Rectangle 10">
              <a:extLst>
                <a:ext uri="{FF2B5EF4-FFF2-40B4-BE49-F238E27FC236}">
                  <a16:creationId xmlns:a16="http://schemas.microsoft.com/office/drawing/2014/main" id="{DCEB2A7B-AEB5-474F-882E-C37294E7232D}"/>
                </a:ext>
              </a:extLst>
            </p:cNvPr>
            <p:cNvSpPr>
              <a:spLocks/>
            </p:cNvSpPr>
            <p:nvPr/>
          </p:nvSpPr>
          <p:spPr>
            <a:xfrm flipH="1">
              <a:off x="6121736" y="3961778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Exploitation for Credential Access</a:t>
              </a:r>
            </a:p>
          </p:txBody>
        </p:sp>
        <p:sp>
          <p:nvSpPr>
            <p:cNvPr id="226" name="Rectangle 10">
              <a:extLst>
                <a:ext uri="{FF2B5EF4-FFF2-40B4-BE49-F238E27FC236}">
                  <a16:creationId xmlns:a16="http://schemas.microsoft.com/office/drawing/2014/main" id="{5E45EA4F-E465-41F2-9EBA-9C8398BB7552}"/>
                </a:ext>
              </a:extLst>
            </p:cNvPr>
            <p:cNvSpPr>
              <a:spLocks/>
            </p:cNvSpPr>
            <p:nvPr/>
          </p:nvSpPr>
          <p:spPr>
            <a:xfrm flipH="1">
              <a:off x="1419627" y="3635893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Deploy Container</a:t>
              </a:r>
            </a:p>
          </p:txBody>
        </p:sp>
        <p:sp>
          <p:nvSpPr>
            <p:cNvPr id="227" name="Rectangle 10">
              <a:extLst>
                <a:ext uri="{FF2B5EF4-FFF2-40B4-BE49-F238E27FC236}">
                  <a16:creationId xmlns:a16="http://schemas.microsoft.com/office/drawing/2014/main" id="{4EF76E7E-31AE-4041-B954-B430A87D74D4}"/>
                </a:ext>
              </a:extLst>
            </p:cNvPr>
            <p:cNvSpPr>
              <a:spLocks/>
            </p:cNvSpPr>
            <p:nvPr/>
          </p:nvSpPr>
          <p:spPr>
            <a:xfrm flipH="1">
              <a:off x="4948319" y="3290319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Deploy Container</a:t>
              </a:r>
            </a:p>
          </p:txBody>
        </p:sp>
        <p:sp>
          <p:nvSpPr>
            <p:cNvPr id="229" name="Rectangle 10">
              <a:extLst>
                <a:ext uri="{FF2B5EF4-FFF2-40B4-BE49-F238E27FC236}">
                  <a16:creationId xmlns:a16="http://schemas.microsoft.com/office/drawing/2014/main" id="{A8F54315-BB2A-41BF-9750-75FD83A048A4}"/>
                </a:ext>
              </a:extLst>
            </p:cNvPr>
            <p:cNvSpPr>
              <a:spLocks/>
            </p:cNvSpPr>
            <p:nvPr/>
          </p:nvSpPr>
          <p:spPr>
            <a:xfrm flipH="1">
              <a:off x="4948319" y="3640920"/>
              <a:ext cx="1167948" cy="3391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Build Image on Host</a:t>
              </a:r>
            </a:p>
          </p:txBody>
        </p:sp>
        <p:sp>
          <p:nvSpPr>
            <p:cNvPr id="231" name="Rectangle 10">
              <a:extLst>
                <a:ext uri="{FF2B5EF4-FFF2-40B4-BE49-F238E27FC236}">
                  <a16:creationId xmlns:a16="http://schemas.microsoft.com/office/drawing/2014/main" id="{088A5E4C-678C-48C6-B03A-B8A13B91262C}"/>
                </a:ext>
              </a:extLst>
            </p:cNvPr>
            <p:cNvSpPr>
              <a:spLocks/>
            </p:cNvSpPr>
            <p:nvPr/>
          </p:nvSpPr>
          <p:spPr>
            <a:xfrm flipH="1">
              <a:off x="4948319" y="3963111"/>
              <a:ext cx="1167948" cy="3391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Domain Policy Modification</a:t>
              </a:r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E4531B17-8FFD-9881-5F21-47E221EA0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6748" y="2311509"/>
              <a:ext cx="93880" cy="93880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8375" rIns="168375" bIns="168375" rtlCol="0" anchor="t">
              <a:noAutofit/>
            </a:bodyPr>
            <a:lstStyle/>
            <a:p>
              <a:pPr marL="0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79BA5602-0525-E536-929E-60D05A1501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0877" y="4025575"/>
              <a:ext cx="93880" cy="93880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8375" rIns="168375" bIns="168375" rtlCol="0" anchor="t">
              <a:noAutofit/>
            </a:bodyPr>
            <a:lstStyle/>
            <a:p>
              <a:pPr marL="0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30826FD0-BF74-4516-8FC8-BAD3F1C79829}"/>
              </a:ext>
            </a:extLst>
          </p:cNvPr>
          <p:cNvGrpSpPr/>
          <p:nvPr/>
        </p:nvGrpSpPr>
        <p:grpSpPr>
          <a:xfrm>
            <a:off x="260255" y="4706560"/>
            <a:ext cx="7039163" cy="3122524"/>
            <a:chOff x="261050" y="1543238"/>
            <a:chExt cx="7039163" cy="3122524"/>
          </a:xfrm>
        </p:grpSpPr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853C0F1E-FBA8-458A-8332-A44271A02DD1}"/>
                </a:ext>
              </a:extLst>
            </p:cNvPr>
            <p:cNvSpPr>
              <a:spLocks/>
            </p:cNvSpPr>
            <p:nvPr/>
          </p:nvSpPr>
          <p:spPr>
            <a:xfrm flipH="1">
              <a:off x="4956749" y="1543238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Exfiltration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07" name="Rectangle 10">
              <a:extLst>
                <a:ext uri="{FF2B5EF4-FFF2-40B4-BE49-F238E27FC236}">
                  <a16:creationId xmlns:a16="http://schemas.microsoft.com/office/drawing/2014/main" id="{3CEEF136-88B0-4C99-8EC9-18E2B4D30EAA}"/>
                </a:ext>
              </a:extLst>
            </p:cNvPr>
            <p:cNvSpPr>
              <a:spLocks/>
            </p:cNvSpPr>
            <p:nvPr/>
          </p:nvSpPr>
          <p:spPr>
            <a:xfrm flipH="1">
              <a:off x="261050" y="1543238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Discovery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6DBD75A2-4F00-4CF5-AE15-25B03BF8AC4D}"/>
                </a:ext>
              </a:extLst>
            </p:cNvPr>
            <p:cNvSpPr>
              <a:spLocks/>
            </p:cNvSpPr>
            <p:nvPr/>
          </p:nvSpPr>
          <p:spPr>
            <a:xfrm flipH="1">
              <a:off x="1434975" y="1543238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Lateral Movement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909ACD3E-3414-49A5-9830-72471FDBC3B8}"/>
                </a:ext>
              </a:extLst>
            </p:cNvPr>
            <p:cNvSpPr>
              <a:spLocks/>
            </p:cNvSpPr>
            <p:nvPr/>
          </p:nvSpPr>
          <p:spPr>
            <a:xfrm flipH="1">
              <a:off x="2608900" y="1543238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Collection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10" name="Rectangle 10">
              <a:extLst>
                <a:ext uri="{FF2B5EF4-FFF2-40B4-BE49-F238E27FC236}">
                  <a16:creationId xmlns:a16="http://schemas.microsoft.com/office/drawing/2014/main" id="{A5DB8B58-E191-4728-B8D5-E24557F0BDF9}"/>
                </a:ext>
              </a:extLst>
            </p:cNvPr>
            <p:cNvSpPr>
              <a:spLocks/>
            </p:cNvSpPr>
            <p:nvPr/>
          </p:nvSpPr>
          <p:spPr>
            <a:xfrm flipH="1">
              <a:off x="3782824" y="1543238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Command 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And Control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11" name="Rectangle 10">
              <a:extLst>
                <a:ext uri="{FF2B5EF4-FFF2-40B4-BE49-F238E27FC236}">
                  <a16:creationId xmlns:a16="http://schemas.microsoft.com/office/drawing/2014/main" id="{956AEE32-7343-4399-B451-3583870581DA}"/>
                </a:ext>
              </a:extLst>
            </p:cNvPr>
            <p:cNvSpPr>
              <a:spLocks/>
            </p:cNvSpPr>
            <p:nvPr/>
          </p:nvSpPr>
          <p:spPr>
            <a:xfrm flipH="1">
              <a:off x="261050" y="1922894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Account Discovery</a:t>
              </a:r>
            </a:p>
          </p:txBody>
        </p:sp>
        <p:sp>
          <p:nvSpPr>
            <p:cNvPr id="112" name="Rectangle 10">
              <a:extLst>
                <a:ext uri="{FF2B5EF4-FFF2-40B4-BE49-F238E27FC236}">
                  <a16:creationId xmlns:a16="http://schemas.microsoft.com/office/drawing/2014/main" id="{8C87A762-10E2-4214-8E07-AD2B3E9691FD}"/>
                </a:ext>
              </a:extLst>
            </p:cNvPr>
            <p:cNvSpPr>
              <a:spLocks/>
            </p:cNvSpPr>
            <p:nvPr/>
          </p:nvSpPr>
          <p:spPr>
            <a:xfrm flipH="1">
              <a:off x="1434975" y="2964380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6011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Use Alternate Authentication </a:t>
              </a:r>
              <a:br>
                <a:rPr kumimoji="0" lang="ru-RU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</a:b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Material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13" name="Rectangle 10">
              <a:extLst>
                <a:ext uri="{FF2B5EF4-FFF2-40B4-BE49-F238E27FC236}">
                  <a16:creationId xmlns:a16="http://schemas.microsoft.com/office/drawing/2014/main" id="{A67DDF7B-08AB-4490-ACF6-023C98E007D9}"/>
                </a:ext>
              </a:extLst>
            </p:cNvPr>
            <p:cNvSpPr>
              <a:spLocks/>
            </p:cNvSpPr>
            <p:nvPr/>
          </p:nvSpPr>
          <p:spPr>
            <a:xfrm flipH="1">
              <a:off x="261050" y="2614544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File and Directory Discovery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14" name="Rectangle 10">
              <a:extLst>
                <a:ext uri="{FF2B5EF4-FFF2-40B4-BE49-F238E27FC236}">
                  <a16:creationId xmlns:a16="http://schemas.microsoft.com/office/drawing/2014/main" id="{CB17D839-23D2-4BC3-BB86-DB6E25F0E4D7}"/>
                </a:ext>
              </a:extLst>
            </p:cNvPr>
            <p:cNvSpPr>
              <a:spLocks/>
            </p:cNvSpPr>
            <p:nvPr/>
          </p:nvSpPr>
          <p:spPr>
            <a:xfrm flipH="1">
              <a:off x="261050" y="2963836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Network Service Scanning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15" name="Rectangle 10">
              <a:extLst>
                <a:ext uri="{FF2B5EF4-FFF2-40B4-BE49-F238E27FC236}">
                  <a16:creationId xmlns:a16="http://schemas.microsoft.com/office/drawing/2014/main" id="{383E1306-3052-4AF2-979F-0A6F850547FD}"/>
                </a:ext>
              </a:extLst>
            </p:cNvPr>
            <p:cNvSpPr>
              <a:spLocks/>
            </p:cNvSpPr>
            <p:nvPr/>
          </p:nvSpPr>
          <p:spPr>
            <a:xfrm flipH="1">
              <a:off x="261050" y="3303517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Network Share Discovery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16" name="Rectangle 10">
              <a:extLst>
                <a:ext uri="{FF2B5EF4-FFF2-40B4-BE49-F238E27FC236}">
                  <a16:creationId xmlns:a16="http://schemas.microsoft.com/office/drawing/2014/main" id="{7C16F88F-9A3A-45CF-B172-C8A3B4643861}"/>
                </a:ext>
              </a:extLst>
            </p:cNvPr>
            <p:cNvSpPr>
              <a:spLocks/>
            </p:cNvSpPr>
            <p:nvPr/>
          </p:nvSpPr>
          <p:spPr>
            <a:xfrm flipH="1">
              <a:off x="261050" y="3637835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Network Sniffing</a:t>
              </a:r>
            </a:p>
          </p:txBody>
        </p:sp>
        <p:sp>
          <p:nvSpPr>
            <p:cNvPr id="117" name="Rectangle 10">
              <a:extLst>
                <a:ext uri="{FF2B5EF4-FFF2-40B4-BE49-F238E27FC236}">
                  <a16:creationId xmlns:a16="http://schemas.microsoft.com/office/drawing/2014/main" id="{1B52F14C-8AFA-4C1D-A4DA-3C913D9C0525}"/>
                </a:ext>
              </a:extLst>
            </p:cNvPr>
            <p:cNvSpPr>
              <a:spLocks/>
            </p:cNvSpPr>
            <p:nvPr/>
          </p:nvSpPr>
          <p:spPr>
            <a:xfrm flipH="1">
              <a:off x="261050" y="2271541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Application Window Discovery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18" name="Rectangle 10">
              <a:extLst>
                <a:ext uri="{FF2B5EF4-FFF2-40B4-BE49-F238E27FC236}">
                  <a16:creationId xmlns:a16="http://schemas.microsoft.com/office/drawing/2014/main" id="{D6A9309A-04A5-472F-9482-51896DD01E44}"/>
                </a:ext>
              </a:extLst>
            </p:cNvPr>
            <p:cNvSpPr>
              <a:spLocks/>
            </p:cNvSpPr>
            <p:nvPr/>
          </p:nvSpPr>
          <p:spPr>
            <a:xfrm flipH="1">
              <a:off x="1434975" y="2614544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Software Deployment Tools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19" name="Rectangle 10">
              <a:extLst>
                <a:ext uri="{FF2B5EF4-FFF2-40B4-BE49-F238E27FC236}">
                  <a16:creationId xmlns:a16="http://schemas.microsoft.com/office/drawing/2014/main" id="{C5FE4F79-8D7B-4533-B573-33F6A3352C5B}"/>
                </a:ext>
              </a:extLst>
            </p:cNvPr>
            <p:cNvSpPr>
              <a:spLocks/>
            </p:cNvSpPr>
            <p:nvPr/>
          </p:nvSpPr>
          <p:spPr>
            <a:xfrm flipH="1">
              <a:off x="1434975" y="1922894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Lateral Tool Transfer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0" name="Rectangle 10">
              <a:extLst>
                <a:ext uri="{FF2B5EF4-FFF2-40B4-BE49-F238E27FC236}">
                  <a16:creationId xmlns:a16="http://schemas.microsoft.com/office/drawing/2014/main" id="{20CC8CF9-3174-424A-B357-766CDE549AB9}"/>
                </a:ext>
              </a:extLst>
            </p:cNvPr>
            <p:cNvSpPr>
              <a:spLocks/>
            </p:cNvSpPr>
            <p:nvPr/>
          </p:nvSpPr>
          <p:spPr>
            <a:xfrm flipH="1">
              <a:off x="1434975" y="2271541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Remote Services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1" name="Rectangle 10">
              <a:extLst>
                <a:ext uri="{FF2B5EF4-FFF2-40B4-BE49-F238E27FC236}">
                  <a16:creationId xmlns:a16="http://schemas.microsoft.com/office/drawing/2014/main" id="{50438137-E52C-4C3D-8B49-E34406B67D6D}"/>
                </a:ext>
              </a:extLst>
            </p:cNvPr>
            <p:cNvSpPr>
              <a:spLocks/>
            </p:cNvSpPr>
            <p:nvPr/>
          </p:nvSpPr>
          <p:spPr>
            <a:xfrm flipH="1">
              <a:off x="2614876" y="2271541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Data from Local System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2" name="Rectangle 10">
              <a:extLst>
                <a:ext uri="{FF2B5EF4-FFF2-40B4-BE49-F238E27FC236}">
                  <a16:creationId xmlns:a16="http://schemas.microsoft.com/office/drawing/2014/main" id="{E136DCA5-B621-4416-8167-DC090483AF04}"/>
                </a:ext>
              </a:extLst>
            </p:cNvPr>
            <p:cNvSpPr>
              <a:spLocks/>
            </p:cNvSpPr>
            <p:nvPr/>
          </p:nvSpPr>
          <p:spPr>
            <a:xfrm flipH="1">
              <a:off x="2614876" y="2617437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Data Staged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3" name="Rectangle 10">
              <a:extLst>
                <a:ext uri="{FF2B5EF4-FFF2-40B4-BE49-F238E27FC236}">
                  <a16:creationId xmlns:a16="http://schemas.microsoft.com/office/drawing/2014/main" id="{E3406BDC-54FB-491B-AFF0-0B5F49190706}"/>
                </a:ext>
              </a:extLst>
            </p:cNvPr>
            <p:cNvSpPr>
              <a:spLocks/>
            </p:cNvSpPr>
            <p:nvPr/>
          </p:nvSpPr>
          <p:spPr>
            <a:xfrm flipH="1">
              <a:off x="2614876" y="2951755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Email Collection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4" name="Rectangle 10">
              <a:extLst>
                <a:ext uri="{FF2B5EF4-FFF2-40B4-BE49-F238E27FC236}">
                  <a16:creationId xmlns:a16="http://schemas.microsoft.com/office/drawing/2014/main" id="{BF41661C-5FBC-4699-8B62-E045FAAB0757}"/>
                </a:ext>
              </a:extLst>
            </p:cNvPr>
            <p:cNvSpPr>
              <a:spLocks/>
            </p:cNvSpPr>
            <p:nvPr/>
          </p:nvSpPr>
          <p:spPr>
            <a:xfrm flipH="1">
              <a:off x="2614876" y="3290866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Input Capture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5" name="Rectangle 10">
              <a:extLst>
                <a:ext uri="{FF2B5EF4-FFF2-40B4-BE49-F238E27FC236}">
                  <a16:creationId xmlns:a16="http://schemas.microsoft.com/office/drawing/2014/main" id="{A485F03D-F99C-439A-8098-9652F77085F5}"/>
                </a:ext>
              </a:extLst>
            </p:cNvPr>
            <p:cNvSpPr>
              <a:spLocks/>
            </p:cNvSpPr>
            <p:nvPr/>
          </p:nvSpPr>
          <p:spPr>
            <a:xfrm flipH="1">
              <a:off x="2608900" y="1922894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Archive Collected</a:t>
              </a:r>
              <a:br>
                <a:rPr kumimoji="0" lang="ru-RU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</a:b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Data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6" name="Rectangle 10">
              <a:extLst>
                <a:ext uri="{FF2B5EF4-FFF2-40B4-BE49-F238E27FC236}">
                  <a16:creationId xmlns:a16="http://schemas.microsoft.com/office/drawing/2014/main" id="{9A373786-BBBE-4E45-973F-D2F558DFECCE}"/>
                </a:ext>
              </a:extLst>
            </p:cNvPr>
            <p:cNvSpPr>
              <a:spLocks/>
            </p:cNvSpPr>
            <p:nvPr/>
          </p:nvSpPr>
          <p:spPr>
            <a:xfrm flipH="1">
              <a:off x="4956749" y="2614544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Exfiltration Over C2 Channel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7" name="Rectangle 10">
              <a:extLst>
                <a:ext uri="{FF2B5EF4-FFF2-40B4-BE49-F238E27FC236}">
                  <a16:creationId xmlns:a16="http://schemas.microsoft.com/office/drawing/2014/main" id="{C2B4BC50-EB18-409E-8778-E2F2C5C7218E}"/>
                </a:ext>
              </a:extLst>
            </p:cNvPr>
            <p:cNvSpPr>
              <a:spLocks/>
            </p:cNvSpPr>
            <p:nvPr/>
          </p:nvSpPr>
          <p:spPr>
            <a:xfrm flipH="1">
              <a:off x="4956749" y="2963836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Exfiltration Over Web Service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8" name="Rectangle 10">
              <a:extLst>
                <a:ext uri="{FF2B5EF4-FFF2-40B4-BE49-F238E27FC236}">
                  <a16:creationId xmlns:a16="http://schemas.microsoft.com/office/drawing/2014/main" id="{075F9F28-2129-443E-8962-3E29CFE28DA4}"/>
                </a:ext>
              </a:extLst>
            </p:cNvPr>
            <p:cNvSpPr>
              <a:spLocks/>
            </p:cNvSpPr>
            <p:nvPr/>
          </p:nvSpPr>
          <p:spPr>
            <a:xfrm flipH="1">
              <a:off x="4956749" y="3303517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Scheduled Transfer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29" name="Rectangle 10">
              <a:extLst>
                <a:ext uri="{FF2B5EF4-FFF2-40B4-BE49-F238E27FC236}">
                  <a16:creationId xmlns:a16="http://schemas.microsoft.com/office/drawing/2014/main" id="{A861FA9D-4CC4-480A-8101-83353497046A}"/>
                </a:ext>
              </a:extLst>
            </p:cNvPr>
            <p:cNvSpPr>
              <a:spLocks/>
            </p:cNvSpPr>
            <p:nvPr/>
          </p:nvSpPr>
          <p:spPr>
            <a:xfrm flipH="1">
              <a:off x="4956749" y="1922894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Automated </a:t>
              </a:r>
              <a:br>
                <a:rPr kumimoji="0" lang="ru-RU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</a:b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Exfiltration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30" name="Rectangle 10">
              <a:extLst>
                <a:ext uri="{FF2B5EF4-FFF2-40B4-BE49-F238E27FC236}">
                  <a16:creationId xmlns:a16="http://schemas.microsoft.com/office/drawing/2014/main" id="{E01F3E24-EB49-4D96-BEE1-45ADEC1BCC1A}"/>
                </a:ext>
              </a:extLst>
            </p:cNvPr>
            <p:cNvSpPr>
              <a:spLocks/>
            </p:cNvSpPr>
            <p:nvPr/>
          </p:nvSpPr>
          <p:spPr>
            <a:xfrm flipH="1">
              <a:off x="4956749" y="2271541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Exfiltration Over Alternative Protocol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31" name="Rectangle 10">
              <a:extLst>
                <a:ext uri="{FF2B5EF4-FFF2-40B4-BE49-F238E27FC236}">
                  <a16:creationId xmlns:a16="http://schemas.microsoft.com/office/drawing/2014/main" id="{AE9FD8C2-D445-4D67-95F8-3EBB929AC3BB}"/>
                </a:ext>
              </a:extLst>
            </p:cNvPr>
            <p:cNvSpPr>
              <a:spLocks/>
            </p:cNvSpPr>
            <p:nvPr/>
          </p:nvSpPr>
          <p:spPr>
            <a:xfrm flipH="1">
              <a:off x="3788801" y="2271541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Data Encoding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32" name="Rectangle 10">
              <a:extLst>
                <a:ext uri="{FF2B5EF4-FFF2-40B4-BE49-F238E27FC236}">
                  <a16:creationId xmlns:a16="http://schemas.microsoft.com/office/drawing/2014/main" id="{1F5BFFD6-AC11-4180-B120-E7D06910702C}"/>
                </a:ext>
              </a:extLst>
            </p:cNvPr>
            <p:cNvSpPr>
              <a:spLocks/>
            </p:cNvSpPr>
            <p:nvPr/>
          </p:nvSpPr>
          <p:spPr>
            <a:xfrm flipH="1">
              <a:off x="3788801" y="2620833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Data Obfuscation</a:t>
              </a:r>
            </a:p>
          </p:txBody>
        </p:sp>
        <p:sp>
          <p:nvSpPr>
            <p:cNvPr id="133" name="Rectangle 10">
              <a:extLst>
                <a:ext uri="{FF2B5EF4-FFF2-40B4-BE49-F238E27FC236}">
                  <a16:creationId xmlns:a16="http://schemas.microsoft.com/office/drawing/2014/main" id="{78FB0094-F346-40AB-9AE8-6D3957D194B3}"/>
                </a:ext>
              </a:extLst>
            </p:cNvPr>
            <p:cNvSpPr>
              <a:spLocks/>
            </p:cNvSpPr>
            <p:nvPr/>
          </p:nvSpPr>
          <p:spPr>
            <a:xfrm flipH="1">
              <a:off x="3788801" y="2960514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Dynamic Resolution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34" name="Rectangle 10">
              <a:extLst>
                <a:ext uri="{FF2B5EF4-FFF2-40B4-BE49-F238E27FC236}">
                  <a16:creationId xmlns:a16="http://schemas.microsoft.com/office/drawing/2014/main" id="{33BB4432-0096-40E0-A109-2C6CE65DB851}"/>
                </a:ext>
              </a:extLst>
            </p:cNvPr>
            <p:cNvSpPr>
              <a:spLocks/>
            </p:cNvSpPr>
            <p:nvPr/>
          </p:nvSpPr>
          <p:spPr>
            <a:xfrm flipH="1">
              <a:off x="3788801" y="3294832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Encrypted Channel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35" name="Rectangle 10">
              <a:extLst>
                <a:ext uri="{FF2B5EF4-FFF2-40B4-BE49-F238E27FC236}">
                  <a16:creationId xmlns:a16="http://schemas.microsoft.com/office/drawing/2014/main" id="{73C3357B-54F5-44E7-8CF6-7FF3D45A185F}"/>
                </a:ext>
              </a:extLst>
            </p:cNvPr>
            <p:cNvSpPr>
              <a:spLocks/>
            </p:cNvSpPr>
            <p:nvPr/>
          </p:nvSpPr>
          <p:spPr>
            <a:xfrm flipH="1">
              <a:off x="3788801" y="3633943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Fallback Channels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36" name="Rectangle 10">
              <a:extLst>
                <a:ext uri="{FF2B5EF4-FFF2-40B4-BE49-F238E27FC236}">
                  <a16:creationId xmlns:a16="http://schemas.microsoft.com/office/drawing/2014/main" id="{6415F2B2-1DDC-4538-898E-ACC29FD7A038}"/>
                </a:ext>
              </a:extLst>
            </p:cNvPr>
            <p:cNvSpPr>
              <a:spLocks/>
            </p:cNvSpPr>
            <p:nvPr/>
          </p:nvSpPr>
          <p:spPr>
            <a:xfrm flipH="1">
              <a:off x="3788801" y="3982197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Ingress Tool </a:t>
              </a:r>
              <a:endParaRPr kumimoji="0" lang="ru-RU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Transfer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37" name="Rectangle 10">
              <a:extLst>
                <a:ext uri="{FF2B5EF4-FFF2-40B4-BE49-F238E27FC236}">
                  <a16:creationId xmlns:a16="http://schemas.microsoft.com/office/drawing/2014/main" id="{DA9E2B69-3406-4958-815D-965244D2D658}"/>
                </a:ext>
              </a:extLst>
            </p:cNvPr>
            <p:cNvSpPr>
              <a:spLocks/>
            </p:cNvSpPr>
            <p:nvPr/>
          </p:nvSpPr>
          <p:spPr>
            <a:xfrm flipH="1">
              <a:off x="3788801" y="4326625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Multi-Stage Channels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38" name="Rectangle 10">
              <a:extLst>
                <a:ext uri="{FF2B5EF4-FFF2-40B4-BE49-F238E27FC236}">
                  <a16:creationId xmlns:a16="http://schemas.microsoft.com/office/drawing/2014/main" id="{9696756F-9ECA-41CB-AE1E-8F88A67E7CF0}"/>
                </a:ext>
              </a:extLst>
            </p:cNvPr>
            <p:cNvSpPr>
              <a:spLocks/>
            </p:cNvSpPr>
            <p:nvPr/>
          </p:nvSpPr>
          <p:spPr>
            <a:xfrm flipH="1">
              <a:off x="3782824" y="1922894"/>
              <a:ext cx="1167948" cy="339137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Application Layer Protocol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39" name="Rectangle 10">
              <a:extLst>
                <a:ext uri="{FF2B5EF4-FFF2-40B4-BE49-F238E27FC236}">
                  <a16:creationId xmlns:a16="http://schemas.microsoft.com/office/drawing/2014/main" id="{04EA322C-CBB1-48F3-8069-525D728B687C}"/>
                </a:ext>
              </a:extLst>
            </p:cNvPr>
            <p:cNvSpPr>
              <a:spLocks/>
            </p:cNvSpPr>
            <p:nvPr/>
          </p:nvSpPr>
          <p:spPr>
            <a:xfrm flipH="1">
              <a:off x="6130677" y="1543238"/>
              <a:ext cx="1167948" cy="33913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6125" rIns="56125" rtlCol="0" anchor="ctr"/>
            <a:lstStyle/>
            <a:p>
              <a:pPr marL="0" marR="0" lvl="0" indent="0" algn="ctr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Impact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40" name="Rectangle 10">
              <a:extLst>
                <a:ext uri="{FF2B5EF4-FFF2-40B4-BE49-F238E27FC236}">
                  <a16:creationId xmlns:a16="http://schemas.microsoft.com/office/drawing/2014/main" id="{B34174ED-226F-46D7-92D5-8A3D5E3536A4}"/>
                </a:ext>
              </a:extLst>
            </p:cNvPr>
            <p:cNvSpPr>
              <a:spLocks/>
            </p:cNvSpPr>
            <p:nvPr/>
          </p:nvSpPr>
          <p:spPr>
            <a:xfrm flipH="1">
              <a:off x="6130677" y="2614544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Data Manipulation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B938CE58-1963-4B20-BD16-FD937E00144A}"/>
                </a:ext>
              </a:extLst>
            </p:cNvPr>
            <p:cNvSpPr>
              <a:spLocks/>
            </p:cNvSpPr>
            <p:nvPr/>
          </p:nvSpPr>
          <p:spPr>
            <a:xfrm flipH="1">
              <a:off x="6130677" y="2963836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Defacement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42" name="Rectangle 10">
              <a:extLst>
                <a:ext uri="{FF2B5EF4-FFF2-40B4-BE49-F238E27FC236}">
                  <a16:creationId xmlns:a16="http://schemas.microsoft.com/office/drawing/2014/main" id="{F2C72A3D-B53A-4D04-87E3-9ABC0FBAB154}"/>
                </a:ext>
              </a:extLst>
            </p:cNvPr>
            <p:cNvSpPr>
              <a:spLocks/>
            </p:cNvSpPr>
            <p:nvPr/>
          </p:nvSpPr>
          <p:spPr>
            <a:xfrm flipH="1">
              <a:off x="6130677" y="3303517"/>
              <a:ext cx="1167948" cy="339137"/>
            </a:xfrm>
            <a:prstGeom prst="rect">
              <a:avLst/>
            </a:prstGeom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Disk Wipe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43" name="Rectangle 10">
              <a:extLst>
                <a:ext uri="{FF2B5EF4-FFF2-40B4-BE49-F238E27FC236}">
                  <a16:creationId xmlns:a16="http://schemas.microsoft.com/office/drawing/2014/main" id="{BEE2F54C-A374-4410-A9BA-AE157C633063}"/>
                </a:ext>
              </a:extLst>
            </p:cNvPr>
            <p:cNvSpPr>
              <a:spLocks/>
            </p:cNvSpPr>
            <p:nvPr/>
          </p:nvSpPr>
          <p:spPr>
            <a:xfrm flipH="1">
              <a:off x="6132265" y="3652094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Resource Hijacking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44" name="Rectangle 10">
              <a:extLst>
                <a:ext uri="{FF2B5EF4-FFF2-40B4-BE49-F238E27FC236}">
                  <a16:creationId xmlns:a16="http://schemas.microsoft.com/office/drawing/2014/main" id="{657AECA0-8999-400A-A08A-625C51889136}"/>
                </a:ext>
              </a:extLst>
            </p:cNvPr>
            <p:cNvSpPr>
              <a:spLocks/>
            </p:cNvSpPr>
            <p:nvPr/>
          </p:nvSpPr>
          <p:spPr>
            <a:xfrm flipH="1">
              <a:off x="6130677" y="1922894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Data Destruction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45" name="Rectangle 10">
              <a:extLst>
                <a:ext uri="{FF2B5EF4-FFF2-40B4-BE49-F238E27FC236}">
                  <a16:creationId xmlns:a16="http://schemas.microsoft.com/office/drawing/2014/main" id="{6F250EEB-092B-4418-9D4D-49E99F199173}"/>
                </a:ext>
              </a:extLst>
            </p:cNvPr>
            <p:cNvSpPr>
              <a:spLocks/>
            </p:cNvSpPr>
            <p:nvPr/>
          </p:nvSpPr>
          <p:spPr>
            <a:xfrm flipH="1">
              <a:off x="6130677" y="2271541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Data Encrypted for Impact</a:t>
              </a:r>
            </a:p>
          </p:txBody>
        </p:sp>
        <p:sp>
          <p:nvSpPr>
            <p:cNvPr id="146" name="Rectangle 10">
              <a:extLst>
                <a:ext uri="{FF2B5EF4-FFF2-40B4-BE49-F238E27FC236}">
                  <a16:creationId xmlns:a16="http://schemas.microsoft.com/office/drawing/2014/main" id="{E5441343-6452-4847-B481-82B6182B4359}"/>
                </a:ext>
              </a:extLst>
            </p:cNvPr>
            <p:cNvSpPr>
              <a:spLocks/>
            </p:cNvSpPr>
            <p:nvPr/>
          </p:nvSpPr>
          <p:spPr>
            <a:xfrm flipH="1">
              <a:off x="6132265" y="3989642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Service Stop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47" name="Овал 146">
              <a:extLst>
                <a:ext uri="{FF2B5EF4-FFF2-40B4-BE49-F238E27FC236}">
                  <a16:creationId xmlns:a16="http://schemas.microsoft.com/office/drawing/2014/main" id="{5922C29A-EF70-44E7-B500-6377C18894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34377" y="3025132"/>
              <a:ext cx="93880" cy="93880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8375" rIns="168375" bIns="168375" rtlCol="0" anchor="t">
              <a:noAutofit/>
            </a:bodyPr>
            <a:lstStyle/>
            <a:p>
              <a:pPr marL="0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48" name="Rectangle 10">
              <a:extLst>
                <a:ext uri="{FF2B5EF4-FFF2-40B4-BE49-F238E27FC236}">
                  <a16:creationId xmlns:a16="http://schemas.microsoft.com/office/drawing/2014/main" id="{AFA7DEB7-77B7-4929-9E12-09949F91EB19}"/>
                </a:ext>
              </a:extLst>
            </p:cNvPr>
            <p:cNvSpPr>
              <a:spLocks/>
            </p:cNvSpPr>
            <p:nvPr/>
          </p:nvSpPr>
          <p:spPr>
            <a:xfrm flipH="1">
              <a:off x="1434975" y="3301651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Exploitation of Remote Services </a:t>
              </a:r>
            </a:p>
          </p:txBody>
        </p:sp>
        <p:sp>
          <p:nvSpPr>
            <p:cNvPr id="149" name="Rectangle 10">
              <a:extLst>
                <a:ext uri="{FF2B5EF4-FFF2-40B4-BE49-F238E27FC236}">
                  <a16:creationId xmlns:a16="http://schemas.microsoft.com/office/drawing/2014/main" id="{4E48B665-9ED7-4018-B840-42CCCE113469}"/>
                </a:ext>
              </a:extLst>
            </p:cNvPr>
            <p:cNvSpPr>
              <a:spLocks/>
            </p:cNvSpPr>
            <p:nvPr/>
          </p:nvSpPr>
          <p:spPr>
            <a:xfrm flipH="1">
              <a:off x="1434975" y="3637835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Internal </a:t>
              </a:r>
              <a:r>
                <a:rPr kumimoji="0" 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Spearphishing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E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50" name="Rectangle 10">
              <a:extLst>
                <a:ext uri="{FF2B5EF4-FFF2-40B4-BE49-F238E27FC236}">
                  <a16:creationId xmlns:a16="http://schemas.microsoft.com/office/drawing/2014/main" id="{EE4C90BE-4233-47E5-A5BB-0FA9A7DE7E34}"/>
                </a:ext>
              </a:extLst>
            </p:cNvPr>
            <p:cNvSpPr>
              <a:spLocks/>
            </p:cNvSpPr>
            <p:nvPr/>
          </p:nvSpPr>
          <p:spPr>
            <a:xfrm flipH="1">
              <a:off x="2610491" y="3638229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Data from Removable Media</a:t>
              </a:r>
            </a:p>
          </p:txBody>
        </p:sp>
        <p:sp>
          <p:nvSpPr>
            <p:cNvPr id="151" name="Rectangle 10">
              <a:extLst>
                <a:ext uri="{FF2B5EF4-FFF2-40B4-BE49-F238E27FC236}">
                  <a16:creationId xmlns:a16="http://schemas.microsoft.com/office/drawing/2014/main" id="{BDE9435D-199B-4CD7-AB52-97CB2E68E204}"/>
                </a:ext>
              </a:extLst>
            </p:cNvPr>
            <p:cNvSpPr>
              <a:spLocks/>
            </p:cNvSpPr>
            <p:nvPr/>
          </p:nvSpPr>
          <p:spPr>
            <a:xfrm flipH="1">
              <a:off x="2610491" y="3979261"/>
              <a:ext cx="1167948" cy="339137"/>
            </a:xfrm>
            <a:prstGeom prst="rect">
              <a:avLst/>
            </a:prstGeom>
            <a:solidFill>
              <a:schemeClr val="accent6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Browser Session Hijacking</a:t>
              </a:r>
            </a:p>
          </p:txBody>
        </p:sp>
        <p:sp>
          <p:nvSpPr>
            <p:cNvPr id="152" name="Rectangle 10">
              <a:extLst>
                <a:ext uri="{FF2B5EF4-FFF2-40B4-BE49-F238E27FC236}">
                  <a16:creationId xmlns:a16="http://schemas.microsoft.com/office/drawing/2014/main" id="{CB3139A6-18EB-4987-93DE-DAC02461B7FB}"/>
                </a:ext>
              </a:extLst>
            </p:cNvPr>
            <p:cNvSpPr>
              <a:spLocks/>
            </p:cNvSpPr>
            <p:nvPr/>
          </p:nvSpPr>
          <p:spPr>
            <a:xfrm flipH="1">
              <a:off x="6132265" y="4326625"/>
              <a:ext cx="1167948" cy="3391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168375" rtlCol="0" anchor="ctr"/>
            <a:lstStyle/>
            <a:p>
              <a:pPr marL="143535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E38FF"/>
                  </a:solidFill>
                  <a:effectLst/>
                  <a:uLnTx/>
                  <a:uFillTx/>
                  <a:latin typeface="Inter" panose="020B0502030000000004" pitchFamily="34" charset="0"/>
                  <a:ea typeface="+mn-ea"/>
                  <a:cs typeface="+mn-cs"/>
                </a:rPr>
                <a:t>Account Access Removal</a:t>
              </a:r>
            </a:p>
          </p:txBody>
        </p:sp>
        <p:sp>
          <p:nvSpPr>
            <p:cNvPr id="153" name="Овал 152">
              <a:extLst>
                <a:ext uri="{FF2B5EF4-FFF2-40B4-BE49-F238E27FC236}">
                  <a16:creationId xmlns:a16="http://schemas.microsoft.com/office/drawing/2014/main" id="{BBE9B7A5-0ECA-451C-A175-B4BA76C91F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4991" y="3025132"/>
              <a:ext cx="93880" cy="93880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8375" rIns="168375" bIns="168375" rtlCol="0" anchor="t">
              <a:noAutofit/>
            </a:bodyPr>
            <a:lstStyle/>
            <a:p>
              <a:pPr marL="0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54" name="Овал 153">
              <a:extLst>
                <a:ext uri="{FF2B5EF4-FFF2-40B4-BE49-F238E27FC236}">
                  <a16:creationId xmlns:a16="http://schemas.microsoft.com/office/drawing/2014/main" id="{6B5B67CB-E57E-42C2-85CA-598FC4BB1E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34377" y="3703664"/>
              <a:ext cx="93880" cy="93880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8375" rIns="168375" bIns="168375" rtlCol="0" anchor="t">
              <a:noAutofit/>
            </a:bodyPr>
            <a:lstStyle/>
            <a:p>
              <a:pPr marL="0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55" name="Овал 154">
              <a:extLst>
                <a:ext uri="{FF2B5EF4-FFF2-40B4-BE49-F238E27FC236}">
                  <a16:creationId xmlns:a16="http://schemas.microsoft.com/office/drawing/2014/main" id="{8183EBF2-EB5E-4AA8-817B-29CB749338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51825" y="3021985"/>
              <a:ext cx="93880" cy="93880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8375" rIns="168375" bIns="168375" rtlCol="0" anchor="t">
              <a:noAutofit/>
            </a:bodyPr>
            <a:lstStyle/>
            <a:p>
              <a:pPr marL="0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  <p:sp>
          <p:nvSpPr>
            <p:cNvPr id="156" name="Овал 155">
              <a:extLst>
                <a:ext uri="{FF2B5EF4-FFF2-40B4-BE49-F238E27FC236}">
                  <a16:creationId xmlns:a16="http://schemas.microsoft.com/office/drawing/2014/main" id="{7E5DC02A-56AA-410D-A2E3-561D217473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6429" y="3703664"/>
              <a:ext cx="93880" cy="93880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8375" rIns="168375" bIns="168375" rtlCol="0" anchor="t">
              <a:noAutofit/>
            </a:bodyPr>
            <a:lstStyle/>
            <a:p>
              <a:pPr marL="0" marR="0" lvl="0" indent="0" algn="l" defTabSz="9955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157" name="Google Shape;116;p19">
            <a:extLst>
              <a:ext uri="{FF2B5EF4-FFF2-40B4-BE49-F238E27FC236}">
                <a16:creationId xmlns:a16="http://schemas.microsoft.com/office/drawing/2014/main" id="{AC27B148-F14C-4860-B620-E249724C65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9025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/>
          <p:cNvSpPr>
            <a:spLocks noGrp="1"/>
          </p:cNvSpPr>
          <p:nvPr>
            <p:ph type="title"/>
          </p:nvPr>
        </p:nvSpPr>
        <p:spPr>
          <a:xfrm>
            <a:off x="452394" y="429910"/>
            <a:ext cx="5304568" cy="643253"/>
          </a:xfrm>
        </p:spPr>
        <p:txBody>
          <a:bodyPr/>
          <a:lstStyle/>
          <a:p>
            <a:r>
              <a:rPr lang="ru-RU" dirty="0"/>
              <a:t>Ландшафт </a:t>
            </a:r>
            <a:br>
              <a:rPr lang="en-US" dirty="0"/>
            </a:br>
            <a:r>
              <a:rPr lang="ru-RU" dirty="0"/>
              <a:t>угроз ИБ 2025</a:t>
            </a:r>
            <a:endParaRPr lang="en-US" dirty="0"/>
          </a:p>
        </p:txBody>
      </p:sp>
      <p:sp>
        <p:nvSpPr>
          <p:cNvPr id="67" name="Inhaltsplatzhalter 4"/>
          <p:cNvSpPr txBox="1">
            <a:spLocks/>
          </p:cNvSpPr>
          <p:nvPr/>
        </p:nvSpPr>
        <p:spPr>
          <a:xfrm>
            <a:off x="424707" y="7152004"/>
            <a:ext cx="6604044" cy="1224000"/>
          </a:xfrm>
          <a:prstGeom prst="roundRect">
            <a:avLst/>
          </a:prstGeom>
          <a:solidFill>
            <a:srgbClr val="FFF5D5"/>
          </a:solidFill>
        </p:spPr>
        <p:txBody>
          <a:bodyPr wrap="square" lIns="180000" tIns="72000" rIns="180000" bIns="7200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B41D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Уязвимости</a:t>
            </a:r>
            <a:b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Использование уязвимостей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продолжает оставаться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одним из основных векторов атак. Как показал текущий квартал, эксплуатация некоторых уникальных уязвимостей может приводить к серьёзным последствиям, таким как взлом мобильных устройств под управлением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Apple,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которое произошло в текущем квартале в рамках кампании «Триангуляция»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71" name="Inhaltsplatzhalter 4"/>
          <p:cNvSpPr txBox="1">
            <a:spLocks/>
          </p:cNvSpPr>
          <p:nvPr/>
        </p:nvSpPr>
        <p:spPr>
          <a:xfrm>
            <a:off x="413633" y="2833835"/>
            <a:ext cx="6604044" cy="1392843"/>
          </a:xfrm>
          <a:prstGeom prst="roundRect">
            <a:avLst/>
          </a:prstGeom>
          <a:solidFill>
            <a:srgbClr val="FFE5D4"/>
          </a:solidFill>
        </p:spPr>
        <p:txBody>
          <a:bodyPr wrap="square" lIns="180000" tIns="72000" rIns="180000" bIns="7200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Supply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chain 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Данный тип атак с каждым годом становится популярнее. Во втором квартале мы наблюдали атаки на пользователей ПО для передачи файлов 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MOVEit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Transfer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(около 1700 компаний пользователей по всему миру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).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Большое количество используемых сторонних программных решений, а также собственная разработка, значительно повышают актуальность данного вектора атаки.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69" name="Inhaltsplatzhalter 4"/>
          <p:cNvSpPr txBox="1">
            <a:spLocks/>
          </p:cNvSpPr>
          <p:nvPr/>
        </p:nvSpPr>
        <p:spPr>
          <a:xfrm>
            <a:off x="424707" y="1659057"/>
            <a:ext cx="6604044" cy="999544"/>
          </a:xfrm>
          <a:prstGeom prst="roundRect">
            <a:avLst/>
          </a:prstGeom>
          <a:solidFill>
            <a:srgbClr val="FFE5D4"/>
          </a:solidFill>
        </p:spPr>
        <p:txBody>
          <a:bodyPr wrap="square" lIns="180000" tIns="72000" rIns="180000" bIns="7200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Утечки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Количество утечек во втором квартале осталось на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прежнем высоком уровне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Практически ни одна утечка не происходит без упоминания в качестве авторов украинских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киберпреступных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группировок. 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73" name="Inhaltsplatzhalter 4"/>
          <p:cNvSpPr txBox="1">
            <a:spLocks/>
          </p:cNvSpPr>
          <p:nvPr/>
        </p:nvSpPr>
        <p:spPr>
          <a:xfrm>
            <a:off x="413633" y="4401912"/>
            <a:ext cx="6604044" cy="1199812"/>
          </a:xfrm>
          <a:prstGeom prst="roundRect">
            <a:avLst/>
          </a:prstGeom>
          <a:solidFill>
            <a:srgbClr val="FFE5D4"/>
          </a:solidFill>
        </p:spPr>
        <p:txBody>
          <a:bodyPr wrap="square" lIns="180000" tIns="72000" rIns="180000" bIns="7200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Фишинг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Фишинг продолжает быть одним из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основных методов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доставки ВПО в инфраструктуру организаций и используется широким кругом атакующих (в том числе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APT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), что делает защиту от него одним из главных приоритетов. В текущем квартале зафиксировано несколько целевых фишинговых атак, направленных на российские компании.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68" name="Inhaltsplatzhalter 4"/>
          <p:cNvSpPr txBox="1">
            <a:spLocks/>
          </p:cNvSpPr>
          <p:nvPr/>
        </p:nvSpPr>
        <p:spPr>
          <a:xfrm>
            <a:off x="424707" y="8551914"/>
            <a:ext cx="6604044" cy="1003163"/>
          </a:xfrm>
          <a:prstGeom prst="roundRect">
            <a:avLst/>
          </a:prstGeom>
          <a:solidFill>
            <a:srgbClr val="FFF5D5"/>
          </a:solidFill>
        </p:spPr>
        <p:txBody>
          <a:bodyPr wrap="square" lIns="180000" tIns="72000" rIns="144000" bIns="7200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B41D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APT-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B41D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группировки</a:t>
            </a:r>
            <a:b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Вновь напомнили о себе западные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APT,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обнаруженные специалистами Лаборатории Касперского в рамках целевой атаки «Триангуляция». Также активны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китайские группировки, в частности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Tonto Team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и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Mustang Panda.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Целевых вредоносных кампаний в отношении ООО «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Инсека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»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не выявлено.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72" name="Inhaltsplatzhalter 4"/>
          <p:cNvSpPr txBox="1">
            <a:spLocks/>
          </p:cNvSpPr>
          <p:nvPr/>
        </p:nvSpPr>
        <p:spPr>
          <a:xfrm>
            <a:off x="413633" y="5776958"/>
            <a:ext cx="6604044" cy="1199812"/>
          </a:xfrm>
          <a:prstGeom prst="roundRect">
            <a:avLst/>
          </a:prstGeom>
          <a:solidFill>
            <a:srgbClr val="FFF5D5"/>
          </a:solidFill>
        </p:spPr>
        <p:txBody>
          <a:bodyPr wrap="square" lIns="180000" tIns="72000" rIns="180000" bIns="7200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B41D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DDoS-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B41D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атаки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Не снижается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количество и объёмы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DDoS-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атак на российские компании. В текущем квартале злоумышленники переключились на российских страховщиков. В качестве жертв чаще всего выбирают компании, проводящие активную деятельность в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медиаполе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Поэтому вероятность подобной атаки на ресурсы ООО «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Инсека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» увеличивается.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0000" y="1310683"/>
            <a:ext cx="12811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Уровень угрозы:</a:t>
            </a: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063825F1-72D7-44EE-99F1-34F589423BB9}"/>
              </a:ext>
            </a:extLst>
          </p:cNvPr>
          <p:cNvSpPr/>
          <p:nvPr/>
        </p:nvSpPr>
        <p:spPr>
          <a:xfrm rot="10800000">
            <a:off x="2151258" y="1444682"/>
            <a:ext cx="1916090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53000">
                <a:schemeClr val="accent5">
                  <a:lumMod val="40000"/>
                  <a:lumOff val="60000"/>
                </a:schemeClr>
              </a:gs>
              <a:gs pos="100000">
                <a:schemeClr val="bg2">
                  <a:lumMod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E38FF">
                  <a:lumMod val="20000"/>
                  <a:lumOff val="80000"/>
                </a:srgbClr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639424" y="1317178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Max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6903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138944" y="1301158"/>
            <a:ext cx="468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Min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pic>
        <p:nvPicPr>
          <p:cNvPr id="14" name="Google Shape;116;p19">
            <a:extLst>
              <a:ext uri="{FF2B5EF4-FFF2-40B4-BE49-F238E27FC236}">
                <a16:creationId xmlns:a16="http://schemas.microsoft.com/office/drawing/2014/main" id="{E2C29866-4963-4902-A87C-F3FC5A3A0C4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4171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6">
            <a:extLst>
              <a:ext uri="{FF2B5EF4-FFF2-40B4-BE49-F238E27FC236}">
                <a16:creationId xmlns:a16="http://schemas.microsoft.com/office/drawing/2014/main" id="{A76464E8-A196-4098-A4B8-8B25B824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93" y="429910"/>
            <a:ext cx="6013721" cy="643253"/>
          </a:xfrm>
        </p:spPr>
        <p:txBody>
          <a:bodyPr/>
          <a:lstStyle/>
          <a:p>
            <a:r>
              <a:rPr lang="ru-RU" dirty="0"/>
              <a:t>Атаки </a:t>
            </a:r>
            <a:br>
              <a:rPr lang="en-US" dirty="0"/>
            </a:br>
            <a:r>
              <a:rPr lang="ru-RU" dirty="0"/>
              <a:t>на Образовательную сферу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2367B52-89ED-41AF-9CA2-10A08DD78E39}"/>
              </a:ext>
            </a:extLst>
          </p:cNvPr>
          <p:cNvSpPr/>
          <p:nvPr/>
        </p:nvSpPr>
        <p:spPr>
          <a:xfrm>
            <a:off x="452393" y="2635125"/>
            <a:ext cx="6391385" cy="79438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171450" marR="0" lvl="0" indent="-17145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Троян 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FakeCalls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известный своими атаками на пользователей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Android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в Южной Корее, обновил тактику обхода средств безопасности. Кампания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FakeCalls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использует ключи подписи, украденные из законного приложения, популярного в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Южной Корее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Поддельные приложения, использующие этот ключ, маскируются под настоящие приложения и даже используют их значки.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92336-C19B-4E61-B67E-4AE6C495D0BA}"/>
              </a:ext>
            </a:extLst>
          </p:cNvPr>
          <p:cNvSpPr txBox="1"/>
          <p:nvPr/>
        </p:nvSpPr>
        <p:spPr>
          <a:xfrm>
            <a:off x="452394" y="1232248"/>
            <a:ext cx="6604044" cy="1317222"/>
          </a:xfrm>
          <a:prstGeom prst="roundRect">
            <a:avLst>
              <a:gd name="adj" fmla="val 10549"/>
            </a:avLst>
          </a:prstGeom>
          <a:solidFill>
            <a:schemeClr val="accent6">
              <a:alpha val="70000"/>
            </a:schemeClr>
          </a:solidFill>
        </p:spPr>
        <p:txBody>
          <a:bodyPr wrap="square" lIns="180000" tIns="144000" rIns="449000" bIns="180000" numCol="1" spcCol="576000" rtlCol="0">
            <a:spAutoFit/>
          </a:bodyPr>
          <a:lstStyle>
            <a:defPPr>
              <a:defRPr lang="ru-RU"/>
            </a:defPPr>
            <a:lvl1pPr>
              <a:lnSpc>
                <a:spcPct val="110000"/>
              </a:lnSpc>
              <a:spcAft>
                <a:spcPts val="937"/>
              </a:spcAft>
              <a:buClr>
                <a:schemeClr val="tx2">
                  <a:lumMod val="75000"/>
                </a:schemeClr>
              </a:buClr>
              <a:buSzPct val="150000"/>
              <a:defRPr sz="1300" spc="3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37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В 2025 году фиксировалась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киберпреступная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 активность, нацеленная </a:t>
            </a:r>
            <a:b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</a:b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на образовательную сферу ряда стран. Большая часть направлена на клиентов компаний.</a:t>
            </a:r>
            <a:endParaRPr kumimoji="0" lang="en-US" sz="1200" b="0" i="0" u="none" strike="noStrike" kern="1200" cap="none" spc="31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/>
            </a:endParaRP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37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В атаках использовалось уже известное ранее ВПО.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FA6888B-CE1C-4883-A498-693AAB505518}"/>
              </a:ext>
            </a:extLst>
          </p:cNvPr>
          <p:cNvSpPr/>
          <p:nvPr/>
        </p:nvSpPr>
        <p:spPr>
          <a:xfrm>
            <a:off x="452392" y="3710303"/>
            <a:ext cx="6391385" cy="97212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171450" marR="0" lvl="0" indent="-17145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 начале апреля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была зафиксирована новая волна массовых рассылок трояна 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QBot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</a:p>
          <a:p>
            <a:pPr marL="182563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ct val="100000"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ВПО распространялось через электронные письма, написанные на разных языках (английском, немецком, итальянском и французском). За основу таких сообщений были взяты реальные деловые письма, к которым злоумышленники получили доступ, а вместе с ним и возможность отправлять участникам переписки свои сообщения.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FE0F2D2-720E-40B1-8A39-3FF46423F2E5}"/>
              </a:ext>
            </a:extLst>
          </p:cNvPr>
          <p:cNvSpPr/>
          <p:nvPr/>
        </p:nvSpPr>
        <p:spPr>
          <a:xfrm>
            <a:off x="452394" y="4963222"/>
            <a:ext cx="6391385" cy="97212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171450" marR="0" lvl="0" indent="-17145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 апреле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вирусные аналитики компании «Доктор Веб» обнаружили в каталоге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Google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Play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вредоносные программы, распространявшиеся под видом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приложений финансовой тематики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Например, различных пособий по инвестированию, инструментов для торговли, программ для участия в опросах и обучения. Однако их настоящей функцией была загрузка мошеннических сайтов, через которые злоумышленники пытались получить от потенциальных жертв персональные данные и похитить их деньги.</a:t>
            </a:r>
          </a:p>
        </p:txBody>
      </p:sp>
      <p:pic>
        <p:nvPicPr>
          <p:cNvPr id="8" name="Google Shape;116;p19">
            <a:extLst>
              <a:ext uri="{FF2B5EF4-FFF2-40B4-BE49-F238E27FC236}">
                <a16:creationId xmlns:a16="http://schemas.microsoft.com/office/drawing/2014/main" id="{42E60499-9736-4959-8EAB-E3F34C44BD6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14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6">
            <a:extLst>
              <a:ext uri="{FF2B5EF4-FFF2-40B4-BE49-F238E27FC236}">
                <a16:creationId xmlns:a16="http://schemas.microsoft.com/office/drawing/2014/main" id="{A76464E8-A196-4098-A4B8-8B25B824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Активные </a:t>
            </a:r>
            <a:br>
              <a:rPr lang="en-US" dirty="0"/>
            </a:br>
            <a:r>
              <a:rPr lang="en-US" dirty="0"/>
              <a:t>APT-</a:t>
            </a:r>
            <a:r>
              <a:rPr lang="ru-RU" dirty="0"/>
              <a:t>группировки</a:t>
            </a:r>
          </a:p>
        </p:txBody>
      </p:sp>
      <p:sp>
        <p:nvSpPr>
          <p:cNvPr id="5" name="Текст 11">
            <a:extLst>
              <a:ext uri="{FF2B5EF4-FFF2-40B4-BE49-F238E27FC236}">
                <a16:creationId xmlns:a16="http://schemas.microsoft.com/office/drawing/2014/main" id="{FFB16014-A5E1-4774-81DD-035E80CA259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52394" y="1811020"/>
            <a:ext cx="5695994" cy="2681909"/>
          </a:xfrm>
          <a:prstGeom prst="rect">
            <a:avLst/>
          </a:prstGeom>
        </p:spPr>
        <p:txBody>
          <a:bodyPr lIns="0"/>
          <a:lstStyle/>
          <a:p>
            <a:pPr marL="171450" indent="-171450" algn="l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Inter" panose="020B0502030000000004" pitchFamily="34" charset="0"/>
                <a:ea typeface="Inter" panose="020B0502030000000004" pitchFamily="34" charset="0"/>
              </a:rPr>
              <a:t>Обнаружение атак со стороны </a:t>
            </a: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прозападных </a:t>
            </a:r>
            <a:r>
              <a:rPr lang="en-US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APT</a:t>
            </a: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ru-RU" sz="1200" dirty="0">
                <a:latin typeface="Inter" panose="020B0502030000000004" pitchFamily="34" charset="0"/>
                <a:ea typeface="Inter" panose="020B0502030000000004" pitchFamily="34" charset="0"/>
              </a:rPr>
              <a:t>с использованием 0-</a:t>
            </a:r>
            <a:r>
              <a:rPr lang="en-US" sz="1200" dirty="0">
                <a:latin typeface="Inter" panose="020B0502030000000004" pitchFamily="34" charset="0"/>
                <a:ea typeface="Inter" panose="020B0502030000000004" pitchFamily="34" charset="0"/>
              </a:rPr>
              <a:t>day </a:t>
            </a:r>
            <a:r>
              <a:rPr lang="ru-RU" sz="1200" dirty="0">
                <a:latin typeface="Inter" panose="020B0502030000000004" pitchFamily="34" charset="0"/>
                <a:ea typeface="Inter" panose="020B0502030000000004" pitchFamily="34" charset="0"/>
              </a:rPr>
              <a:t>уязвимостей.</a:t>
            </a:r>
          </a:p>
          <a:p>
            <a:pPr marL="171450" indent="-171450" algn="l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sz="1200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71450" indent="-171450" algn="l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Inter" panose="020B0502030000000004" pitchFamily="34" charset="0"/>
                <a:ea typeface="Inter" panose="020B0502030000000004" pitchFamily="34" charset="0"/>
              </a:rPr>
              <a:t>Мотивом APT-группировок, атакующих российские организации, является </a:t>
            </a: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шпионаж.</a:t>
            </a:r>
            <a:r>
              <a:rPr lang="en-US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endParaRPr lang="ru-RU" sz="1200" b="1" dirty="0">
              <a:solidFill>
                <a:srgbClr val="0038FF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71450" indent="-171450" algn="l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ru-RU" sz="1200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71450" lvl="0" indent="-171450" algn="l" defTabSz="995507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Основные цели – </a:t>
            </a: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государственные учреждения, </a:t>
            </a:r>
            <a:r>
              <a:rPr lang="en-US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IT-</a:t>
            </a: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компании </a:t>
            </a:r>
            <a:r>
              <a:rPr lang="ru-RU" sz="1200" dirty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и </a:t>
            </a: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обычные пользователи</a:t>
            </a:r>
            <a:r>
              <a:rPr lang="ru-RU" sz="1200" dirty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</a:p>
          <a:p>
            <a:pPr lvl="0" algn="l" defTabSz="995507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defRPr/>
            </a:pPr>
            <a:endParaRPr lang="ru-RU" sz="1200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71450" indent="-171450" algn="l" defTabSz="995507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Inter" panose="020B0502030000000004" pitchFamily="34" charset="0"/>
                <a:ea typeface="Inter" panose="020B0502030000000004" pitchFamily="34" charset="0"/>
              </a:rPr>
              <a:t>APT-группировками по-прежнему используется </a:t>
            </a: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тематика конфликта России и Украины </a:t>
            </a:r>
            <a:r>
              <a:rPr lang="ru-RU" sz="1200" dirty="0">
                <a:latin typeface="Inter" panose="020B0502030000000004" pitchFamily="34" charset="0"/>
                <a:ea typeface="Inter" panose="020B0502030000000004" pitchFamily="34" charset="0"/>
              </a:rPr>
              <a:t>при распространении фишинговых писем.</a:t>
            </a:r>
          </a:p>
          <a:p>
            <a:pPr marL="171450" indent="-171450" algn="l" defTabSz="995507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ru-RU" sz="1200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71450" indent="-171450" algn="l" defTabSz="995507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Увеличение количества APT-угроз</a:t>
            </a:r>
            <a:r>
              <a:rPr lang="ru-RU" sz="1200" dirty="0">
                <a:latin typeface="Inter" panose="020B0502030000000004" pitchFamily="34" charset="0"/>
                <a:ea typeface="Inter" panose="020B0502030000000004" pitchFamily="34" charset="0"/>
              </a:rPr>
              <a:t>, направленных на Россию.</a:t>
            </a:r>
          </a:p>
          <a:p>
            <a:pPr marL="171450" indent="-171450" algn="l" defTabSz="995507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ru-RU" sz="1200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71450" indent="-171450" algn="l" defTabSz="995507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Inter" panose="020B0502030000000004" pitchFamily="34" charset="0"/>
                <a:ea typeface="Inter" panose="020B0502030000000004" pitchFamily="34" charset="0"/>
              </a:rPr>
              <a:t>Появление </a:t>
            </a: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новых угроз со стороны </a:t>
            </a:r>
            <a:r>
              <a:rPr lang="ru-RU" sz="1200" b="1" dirty="0" err="1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неатрибутированных</a:t>
            </a:r>
            <a:r>
              <a:rPr lang="ru-RU" sz="1200" b="1" dirty="0">
                <a:solidFill>
                  <a:srgbClr val="0038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ru-RU" sz="1200" dirty="0">
                <a:latin typeface="Inter" panose="020B0502030000000004" pitchFamily="34" charset="0"/>
                <a:ea typeface="Inter" panose="020B0502030000000004" pitchFamily="34" charset="0"/>
              </a:rPr>
              <a:t>APT-групп.</a:t>
            </a:r>
          </a:p>
          <a:p>
            <a:pPr marL="171450" indent="-171450" algn="l" defTabSz="995507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ru-RU" sz="1200" dirty="0"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71450" indent="-171450" algn="l" defTabSz="995507" rtl="0">
              <a:lnSpc>
                <a:spcPct val="110000"/>
              </a:lnSpc>
              <a:spcAft>
                <a:spcPts val="0"/>
              </a:spcAft>
              <a:buClr>
                <a:srgbClr val="0137FF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ru-RU" sz="120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4D5E9F26-30D3-4982-ACFA-5A3B03B5064D}"/>
              </a:ext>
            </a:extLst>
          </p:cNvPr>
          <p:cNvSpPr txBox="1">
            <a:spLocks/>
          </p:cNvSpPr>
          <p:nvPr/>
        </p:nvSpPr>
        <p:spPr>
          <a:xfrm>
            <a:off x="452394" y="1367146"/>
            <a:ext cx="2566479" cy="2498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eaLnBrk="1" hangingPunct="1">
              <a:lnSpc>
                <a:spcPct val="95000"/>
              </a:lnSpc>
              <a:defRPr sz="2400" b="1" i="0" cap="all" baseline="0">
                <a:solidFill>
                  <a:schemeClr val="tx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37"/>
              </a:spcAft>
              <a:buClr>
                <a:srgbClr val="0038FF"/>
              </a:buClr>
              <a:buSzPct val="120000"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j-ea"/>
                <a:cs typeface="+mn-cs"/>
              </a:rPr>
              <a:t>Основные тренды</a:t>
            </a:r>
          </a:p>
        </p:txBody>
      </p:sp>
      <p:pic>
        <p:nvPicPr>
          <p:cNvPr id="1026" name="Picture 2" descr="You have around 20 minutes to contain a Russian APT attack | ZDNET">
            <a:extLst>
              <a:ext uri="{FF2B5EF4-FFF2-40B4-BE49-F238E27FC236}">
                <a16:creationId xmlns:a16="http://schemas.microsoft.com/office/drawing/2014/main" id="{FA3C747D-2289-4A92-A22D-4FB6874CF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47" y="5102066"/>
            <a:ext cx="6843779" cy="437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116;p19">
            <a:extLst>
              <a:ext uri="{FF2B5EF4-FFF2-40B4-BE49-F238E27FC236}">
                <a16:creationId xmlns:a16="http://schemas.microsoft.com/office/drawing/2014/main" id="{13C86FE1-60BF-4FE1-A2FC-4EAC1EAD41E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0738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4B02534-EEE8-4DCF-A5E4-EB343A96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Активные </a:t>
            </a:r>
            <a:br>
              <a:rPr lang="en-US" dirty="0"/>
            </a:br>
            <a:r>
              <a:rPr lang="en-US" dirty="0"/>
              <a:t>APT-</a:t>
            </a:r>
            <a:r>
              <a:rPr lang="ru-RU" dirty="0"/>
              <a:t>группировки, Атакующие РФ</a:t>
            </a:r>
            <a:br>
              <a:rPr lang="ru-RU" dirty="0"/>
            </a:br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796793BF-F4FC-48DA-A10A-5279B5F4463B}"/>
              </a:ext>
            </a:extLst>
          </p:cNvPr>
          <p:cNvSpPr>
            <a:spLocks/>
          </p:cNvSpPr>
          <p:nvPr/>
        </p:nvSpPr>
        <p:spPr>
          <a:xfrm>
            <a:off x="276193" y="1223354"/>
            <a:ext cx="7007287" cy="3987293"/>
          </a:xfrm>
          <a:prstGeom prst="roundRect">
            <a:avLst>
              <a:gd name="adj" fmla="val 9338"/>
            </a:avLst>
          </a:prstGeom>
          <a:solidFill>
            <a:schemeClr val="bg1">
              <a:lumMod val="95000"/>
            </a:schemeClr>
          </a:solidFill>
        </p:spPr>
        <p:txBody>
          <a:bodyPr wrap="square" lIns="180000" tIns="144000" rIns="144000" bIns="14400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38FF"/>
              </a:buClr>
              <a:buSzPct val="12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Equation (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США)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1 июня на сайте ФСБ появилось сообщение о выявлении атаки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американских спецслужб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проведенной с использованием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мобильных устройств Apple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 имеющихся в них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уязвимостей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Заражено несколько тысяч устройств, в которых используются не только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российские 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sim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-карты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но и зарегистрированные на диппредставительства и посольства в России, включая страны блока НАТО и постсоветского пространства, а также Израиль, САР и КНР.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 этот же день Лаборатория Касперского сообщила о целевой атаке на 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iOS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-устройства, выявленной в процессе мониторинга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собственной корпоративной 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Wi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-Fi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сети и получившей название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Операция Триангуляция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Используя уязвимости в операционной системе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iOS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в ходе атаки пользователю направляется невидимое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iMessage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-сообщение с вредоносным вложением. Внедрение происходит абсолютно скрытно 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без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какого-либо взаимодействия с пользователем.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ВПО работает исключительно в оперативной памяти и не устанавливается в системе из-за ее ограничений. Однако после перезагрузки устройства могут быть заражены снова.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Наиболее старые временные метки заражений указывают на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2019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год. На момент июня 2023 атака продолжается.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9 июня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Antiy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(китайская ИБ-компания) сообщила, что образцы, которые они проанализировали, и атаки, выявленные Лабораторией Касперского, исходят от 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Equation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Образцы используют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Quantum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– систему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Equation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основанную на сетевой стороне для таргетинга на уязвимости браузера и впервые раскрытую Сноуденом в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2013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году.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BCD6D2-03A5-479F-814E-0080597B10EE}"/>
              </a:ext>
            </a:extLst>
          </p:cNvPr>
          <p:cNvSpPr/>
          <p:nvPr/>
        </p:nvSpPr>
        <p:spPr>
          <a:xfrm>
            <a:off x="276193" y="5585339"/>
            <a:ext cx="7007287" cy="3048044"/>
          </a:xfrm>
          <a:prstGeom prst="roundRect">
            <a:avLst>
              <a:gd name="adj" fmla="val 7428"/>
            </a:avLst>
          </a:prstGeom>
          <a:solidFill>
            <a:schemeClr val="bg1">
              <a:lumMod val="95000"/>
            </a:schemeClr>
          </a:solidFill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38FF"/>
              </a:buClr>
              <a:buSzPct val="12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Watch Wolf (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неизвестно)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Была зафиксирована кампания, нацеленная на компрометацию рабочих станций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бухгалтеров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российских компаний с целью последующего вывода денежных средств через онлайн ‑ банкинг. 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Группа активна с ноября 2021 года, в рамках прошлых кампаний распространение ВПО осуществлялось через фишинговые рассылки. В рамках новой кампании, которая началась не ранее ноября 2022 года, злоумышленники изменили метод распространения.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Атакующие создали сайты, имитирующие ресурсы для бухгалтеров, с которых можно загрузить различные документы, после чего с помощью SEO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poisoning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 покупки рекламы вывели сайты на первую страницу поисковой выдачи.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После перехода на сайт жертве предлагается загрузить искомый документ в одном из популярных форматов, например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Microsoft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Excel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После перехода по ссылке жертва загружает файл, но не тот, что указан в описании, а SFX ‑ архив, содержащий ВПО. При этом файл размещен не на самом сайте: вместо этого используется система размещения контента мессенджера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Discord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Запуск загруженного файла приводит к инсталляции бэкдора 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DarkWatchman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</a:p>
        </p:txBody>
      </p:sp>
      <p:pic>
        <p:nvPicPr>
          <p:cNvPr id="6" name="Google Shape;116;p19">
            <a:extLst>
              <a:ext uri="{FF2B5EF4-FFF2-40B4-BE49-F238E27FC236}">
                <a16:creationId xmlns:a16="http://schemas.microsoft.com/office/drawing/2014/main" id="{C7369C98-C8D7-473F-97F3-153E5F498E2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1417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6">
            <a:extLst>
              <a:ext uri="{FF2B5EF4-FFF2-40B4-BE49-F238E27FC236}">
                <a16:creationId xmlns:a16="http://schemas.microsoft.com/office/drawing/2014/main" id="{A76464E8-A196-4098-A4B8-8B25B824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Вредоносное ПО</a:t>
            </a: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06D636CF-F948-4D4C-8ACD-4570E6801F27}"/>
              </a:ext>
            </a:extLst>
          </p:cNvPr>
          <p:cNvSpPr/>
          <p:nvPr/>
        </p:nvSpPr>
        <p:spPr>
          <a:xfrm>
            <a:off x="452391" y="1354070"/>
            <a:ext cx="6604042" cy="1140433"/>
          </a:xfrm>
          <a:prstGeom prst="roundRect">
            <a:avLst>
              <a:gd name="adj" fmla="val 25506"/>
            </a:avLst>
          </a:prstGeom>
          <a:solidFill>
            <a:srgbClr val="FFE5D4"/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0000" tIns="108000" rIns="72000" bIns="108000" numCol="1" anchor="t">
            <a:spAutoFit/>
          </a:bodyPr>
          <a:lstStyle>
            <a:lvl1pPr defTabSz="914126">
              <a:lnSpc>
                <a:spcPct val="90000"/>
              </a:lnSpc>
              <a:spcBef>
                <a:spcPts val="1000"/>
              </a:spcBef>
              <a:defRPr sz="1600" b="1">
                <a:solidFill>
                  <a:srgbClr val="FF4B4B"/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BabLock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FF6903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Было обнаружено новое семейство вымогателей, получившее название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BabLock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(также отслеживаемое под именем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Rorschach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). Версии данного ВПО для Linux и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ESXi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имеют пересечения с утекшим исходным кодом шифровальщика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Babuk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модуль для Windows, в свою очередь, является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кастомным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16" name="Inhaltsplatzhalter 4">
            <a:extLst>
              <a:ext uri="{FF2B5EF4-FFF2-40B4-BE49-F238E27FC236}">
                <a16:creationId xmlns:a16="http://schemas.microsoft.com/office/drawing/2014/main" id="{C497304F-8C39-4326-AF17-7C6665923EFC}"/>
              </a:ext>
            </a:extLst>
          </p:cNvPr>
          <p:cNvSpPr>
            <a:spLocks/>
          </p:cNvSpPr>
          <p:nvPr/>
        </p:nvSpPr>
        <p:spPr>
          <a:xfrm>
            <a:off x="452391" y="4393036"/>
            <a:ext cx="6604044" cy="1567269"/>
          </a:xfrm>
          <a:prstGeom prst="roundRect">
            <a:avLst>
              <a:gd name="adj" fmla="val 25702"/>
            </a:avLst>
          </a:prstGeom>
          <a:solidFill>
            <a:srgbClr val="FFE5D4"/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0000" tIns="108000" rIns="72000" bIns="108000" numCol="1" anchor="t">
            <a:spAutoFit/>
          </a:bodyPr>
          <a:lstStyle>
            <a:lvl1pPr defTabSz="914126">
              <a:lnSpc>
                <a:spcPct val="90000"/>
              </a:lnSpc>
              <a:spcBef>
                <a:spcPts val="1000"/>
              </a:spcBef>
              <a:defRPr sz="1600" b="1">
                <a:solidFill>
                  <a:srgbClr val="FF6565"/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NoEscape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 мае 2023-го года в объявлениях на теневых форумах был замечен шифровальщик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NoEscape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Он распространяется по модели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Ransomware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-a-Service (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Raas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).</a:t>
            </a: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Билдер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ВПО позволяет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кастомизировать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исполняемый файл. В частности, с его помощью можно создавать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exe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dll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файлы для систем Windows,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elf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для Linux/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ESXi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настраивать имя вымогателя и ключа шифрования, сумму выкупа и тип таймера до публикации данных.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D4DEC389-4EF6-46AC-A1CA-F69A806A0DAF}"/>
              </a:ext>
            </a:extLst>
          </p:cNvPr>
          <p:cNvSpPr>
            <a:spLocks/>
          </p:cNvSpPr>
          <p:nvPr/>
        </p:nvSpPr>
        <p:spPr>
          <a:xfrm>
            <a:off x="452391" y="2679500"/>
            <a:ext cx="6604045" cy="1528539"/>
          </a:xfrm>
          <a:prstGeom prst="roundRect">
            <a:avLst>
              <a:gd name="adj" fmla="val 23021"/>
            </a:avLst>
          </a:prstGeom>
          <a:solidFill>
            <a:srgbClr val="FFE5D4"/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0000" tIns="108000" rIns="72000" bIns="108000" numCol="1" anchor="t">
            <a:spAutoFit/>
          </a:bodyPr>
          <a:lstStyle>
            <a:lvl1pPr defTabSz="914126">
              <a:lnSpc>
                <a:spcPct val="90000"/>
              </a:lnSpc>
              <a:spcBef>
                <a:spcPts val="1000"/>
              </a:spcBef>
              <a:defRPr sz="1600" b="1">
                <a:solidFill>
                  <a:srgbClr val="FF6565"/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Cylance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6903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Был обнаружен и исследован экземпляр нового семейства вымогателей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Cylance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ВПО нацелено на системы под управлением ОС Windows и Linux. </a:t>
            </a: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Предположительно, шифровальщик все еще находится в стадии разработки. Операторы не разворачивали Data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Leak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Site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для публикации данных о жертвах, поэтому в настоящий момент доступно мало информации о них.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2A505322-29DA-4BB8-8725-1E7B3A415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15" y="6573514"/>
            <a:ext cx="6604042" cy="320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116;p19">
            <a:extLst>
              <a:ext uri="{FF2B5EF4-FFF2-40B4-BE49-F238E27FC236}">
                <a16:creationId xmlns:a16="http://schemas.microsoft.com/office/drawing/2014/main" id="{11BF4EB5-3295-479E-B108-EFBA63FB6DD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5953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04FE8CE3-DC76-4C66-ABB0-0549838CA6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6005414"/>
              </p:ext>
            </p:extLst>
          </p:nvPr>
        </p:nvGraphicFramePr>
        <p:xfrm>
          <a:off x="-2086708" y="332060"/>
          <a:ext cx="7934973" cy="2898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Заголовок 6">
            <a:extLst>
              <a:ext uri="{FF2B5EF4-FFF2-40B4-BE49-F238E27FC236}">
                <a16:creationId xmlns:a16="http://schemas.microsoft.com/office/drawing/2014/main" id="{A76464E8-A196-4098-A4B8-8B25B824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59675378-FF22-4229-8CB0-9D34C3D888EB}"/>
              </a:ext>
            </a:extLst>
          </p:cNvPr>
          <p:cNvSpPr txBox="1">
            <a:spLocks/>
          </p:cNvSpPr>
          <p:nvPr/>
        </p:nvSpPr>
        <p:spPr>
          <a:xfrm>
            <a:off x="452394" y="4657758"/>
            <a:ext cx="5929356" cy="2041181"/>
          </a:xfrm>
          <a:prstGeom prst="rect">
            <a:avLst/>
          </a:prstGeom>
        </p:spPr>
        <p:txBody>
          <a:bodyPr lIns="0"/>
          <a:lstStyle>
            <a:lvl1pPr marL="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1pPr>
            <a:lvl2pPr marL="361950" indent="-285750" eaLnBrk="1" hangingPunct="1">
              <a:lnSpc>
                <a:spcPct val="117000"/>
              </a:lnSpc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600">
                <a:latin typeface="+mn-lt"/>
                <a:ea typeface="+mn-ea"/>
                <a:cs typeface="+mn-cs"/>
              </a:defRPr>
            </a:lvl2pPr>
            <a:lvl3pPr marL="9144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3pPr>
            <a:lvl4pPr marL="13716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4pPr>
            <a:lvl5pPr marL="18288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507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187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 увеличением числа новых программных продуктов увеличивается и общее число уязвимостей. Большое число релевантных для инфраструктуры ООО «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Инсека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» уязвимостей напрямую связано с широким спектром программных решений, используемых в компании. Наибольший интерес представляют 0-day уязвимости, опубликованные в открытом доступе, так как по статистике, передовым APT-группировкам требуется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менее суток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для написания эксплойта.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A11E54-9079-4395-99C7-29060C964B85}"/>
              </a:ext>
            </a:extLst>
          </p:cNvPr>
          <p:cNvSpPr txBox="1"/>
          <p:nvPr/>
        </p:nvSpPr>
        <p:spPr>
          <a:xfrm>
            <a:off x="452394" y="3461190"/>
            <a:ext cx="6604043" cy="803730"/>
          </a:xfrm>
          <a:prstGeom prst="roundRect">
            <a:avLst>
              <a:gd name="adj" fmla="val 10473"/>
            </a:avLst>
          </a:prstGeom>
          <a:solidFill>
            <a:schemeClr val="accent6">
              <a:alpha val="70000"/>
            </a:schemeClr>
          </a:solidFill>
        </p:spPr>
        <p:txBody>
          <a:bodyPr wrap="square" lIns="180000" tIns="180000" rIns="168375" bIns="180000" numCol="1" spcCol="576000" rtlCol="0" anchor="t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87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По сравнению с 2024 годом количество зарегистрированных уязвимостей снизилось примерно на </a:t>
            </a:r>
            <a:r>
              <a:rPr kumimoji="0" lang="ru-RU" sz="12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5%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0B9F7-EB6B-436A-8F56-875CE0D1991C}"/>
              </a:ext>
            </a:extLst>
          </p:cNvPr>
          <p:cNvSpPr txBox="1"/>
          <p:nvPr/>
        </p:nvSpPr>
        <p:spPr>
          <a:xfrm>
            <a:off x="3417072" y="1568287"/>
            <a:ext cx="3191092" cy="9776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2500" b="1" i="0" u="none" strike="noStrike" kern="1200" cap="all" spc="39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Arial"/>
              </a:rPr>
              <a:t>1000</a:t>
            </a:r>
            <a:endParaRPr kumimoji="0" lang="en-US" sz="1400" b="1" i="0" u="none" strike="noStrike" kern="1200" cap="none" spc="31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/>
            </a:endParaRP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400" b="1" i="0" u="none" strike="noStrike" kern="1200" cap="none" spc="31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Применимы на инфраструктуру </a:t>
            </a:r>
            <a:br>
              <a:rPr kumimoji="0" lang="ru-RU" sz="1400" b="1" i="0" u="none" strike="noStrike" kern="1200" cap="none" spc="31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</a:br>
            <a:r>
              <a:rPr kumimoji="0" lang="ru-RU" sz="1400" b="1" i="0" u="none" strike="noStrike" kern="1200" cap="none" spc="31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ООО «</a:t>
            </a:r>
            <a:r>
              <a:rPr kumimoji="0" lang="ru-RU" sz="1400" b="1" i="0" u="none" strike="noStrike" kern="1200" cap="none" spc="31" normalizeH="0" baseline="0" noProof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Инсека</a:t>
            </a:r>
            <a:r>
              <a:rPr kumimoji="0" lang="ru-RU" sz="1400" b="1" i="0" u="none" strike="noStrike" kern="1200" cap="none" spc="31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»</a:t>
            </a:r>
            <a:endParaRPr kumimoji="0" lang="en-US" sz="1400" b="1" i="0" u="none" strike="noStrike" kern="1200" cap="none" spc="31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6F6371-9E5D-4401-99CD-DD486396E998}"/>
              </a:ext>
            </a:extLst>
          </p:cNvPr>
          <p:cNvSpPr txBox="1"/>
          <p:nvPr/>
        </p:nvSpPr>
        <p:spPr>
          <a:xfrm>
            <a:off x="563513" y="1457621"/>
            <a:ext cx="180700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Выявлено  уязвимостей </a:t>
            </a:r>
            <a:br>
              <a:rPr kumimoji="0" lang="en-US" sz="14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</a:br>
            <a:r>
              <a:rPr kumimoji="0" lang="ru-RU" sz="14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в мире </a:t>
            </a:r>
            <a:br>
              <a:rPr kumimoji="0" lang="en-US" sz="14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</a:br>
            <a:r>
              <a:rPr kumimoji="0" lang="ru-RU" sz="14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(за 2025 г.)  </a:t>
            </a:r>
            <a:br>
              <a:rPr kumimoji="0" lang="en-US" sz="18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</a:br>
            <a:r>
              <a:rPr kumimoji="0" lang="ru-RU" sz="2500" b="1" i="0" u="none" strike="noStrike" kern="1200" cap="all" spc="39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Arial"/>
              </a:rPr>
              <a:t>30000</a:t>
            </a: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35CA7938-6B76-4549-B995-EF07AC37F9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8383882"/>
              </p:ext>
            </p:extLst>
          </p:nvPr>
        </p:nvGraphicFramePr>
        <p:xfrm>
          <a:off x="452394" y="6211973"/>
          <a:ext cx="6948371" cy="2422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1" name="Google Shape;116;p19">
            <a:extLst>
              <a:ext uri="{FF2B5EF4-FFF2-40B4-BE49-F238E27FC236}">
                <a16:creationId xmlns:a16="http://schemas.microsoft.com/office/drawing/2014/main" id="{6747D156-200B-403D-8FA4-0A47956B044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8660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2394" y="429910"/>
            <a:ext cx="5304568" cy="321627"/>
          </a:xfrm>
        </p:spPr>
        <p:txBody>
          <a:bodyPr/>
          <a:lstStyle/>
          <a:p>
            <a:r>
              <a:rPr lang="ru-RU" dirty="0"/>
              <a:t>ТОП УЯЗВИМОСТЕЙ </a:t>
            </a:r>
            <a:endParaRPr lang="en-US" dirty="0"/>
          </a:p>
        </p:txBody>
      </p:sp>
      <p:sp>
        <p:nvSpPr>
          <p:cNvPr id="17" name="Footer Text"/>
          <p:cNvSpPr txBox="1"/>
          <p:nvPr/>
        </p:nvSpPr>
        <p:spPr>
          <a:xfrm>
            <a:off x="452389" y="1305747"/>
            <a:ext cx="6586580" cy="2125221"/>
          </a:xfrm>
          <a:prstGeom prst="roundRect">
            <a:avLst>
              <a:gd name="adj" fmla="val 9580"/>
            </a:avLst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180000" tIns="108000" rIns="112250" bIns="108000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CVE-2023-32434, CVE-2023-32439 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Apple</a:t>
            </a: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Уязвимости представляют угрозу для всех версий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iOS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выпущенных до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iOS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15.7. Они затрагивают компоненты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Kernel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WebKit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соответственно. Эксплуатация осуществляется с помощью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zero-click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эксплоитов для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iMessage.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Обнаружены специалистами «Лаборатории Касперского» в ходе изучения вредоносной кампании «Операции Триангуляция» (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Operation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Triangulation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).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Рейтинг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CVSS v3.1 -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7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.8, 8.8 (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соответственно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)</a:t>
            </a:r>
            <a:endParaRPr kumimoji="0" lang="ru-RU" sz="1050" b="1" i="0" u="none" strike="noStrike" kern="1200" cap="none" spc="0" normalizeH="0" baseline="0" noProof="0" dirty="0">
              <a:ln>
                <a:noFill/>
              </a:ln>
              <a:solidFill>
                <a:srgbClr val="E1E1E1">
                  <a:lumMod val="10000"/>
                </a:srgb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Уязвимость устранена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  <a:endParaRPr kumimoji="0" lang="ar-SY" sz="1050" b="0" i="0" u="none" strike="noStrike" kern="1200" cap="none" spc="0" normalizeH="0" baseline="0" noProof="0" dirty="0">
              <a:ln w="1270">
                <a:noFill/>
              </a:ln>
              <a:solidFill>
                <a:srgbClr val="0E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Footer Text"/>
          <p:cNvSpPr txBox="1">
            <a:spLocks/>
          </p:cNvSpPr>
          <p:nvPr/>
        </p:nvSpPr>
        <p:spPr>
          <a:xfrm>
            <a:off x="452392" y="3514186"/>
            <a:ext cx="6586577" cy="2042504"/>
          </a:xfrm>
          <a:prstGeom prst="roundRect">
            <a:avLst>
              <a:gd name="adj" fmla="val 11230"/>
            </a:avLst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180000" tIns="108000" rIns="112250" bIns="108000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CVE-2023-28252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Microsoft</a:t>
            </a: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Уязвимость связана с повышением привилегий до уровня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SYSTEM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 драйвере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Windows Common Log File System (CLFS)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Проблема влияет на все поддерживаемые серверные и клиентские версии Windows и может быть использована локальными злоумышленниками в атаках, не требующих взаимодействия с пользователем. По данным «Лаборатории Касперского», эта 0-day уязвимость использовалась операторами вымогателя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Nokoyawa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25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E1E1E1">
                  <a:lumMod val="25000"/>
                </a:srgb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Рейтинг CVSS v3.1 – 7.8.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E1E1E1">
                  <a:lumMod val="10000"/>
                </a:srgb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Уязвимость устранена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  <a:endParaRPr kumimoji="0" lang="ar-SY" sz="1050" b="0" i="0" u="none" strike="noStrike" kern="1200" cap="none" spc="0" normalizeH="0" baseline="0" noProof="0" dirty="0">
              <a:ln w="1270">
                <a:noFill/>
              </a:ln>
              <a:solidFill>
                <a:srgbClr val="0E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Footer Text"/>
          <p:cNvSpPr txBox="1"/>
          <p:nvPr/>
        </p:nvSpPr>
        <p:spPr>
          <a:xfrm>
            <a:off x="486549" y="7578058"/>
            <a:ext cx="6586580" cy="2212057"/>
          </a:xfrm>
          <a:prstGeom prst="roundRect">
            <a:avLst>
              <a:gd name="adj" fmla="val 9769"/>
            </a:avLst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180000" tIns="108000" rIns="112250" bIns="108000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04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CVE-2023-34416 Mozilla Firefox</a:t>
            </a: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Разработчики Mozilla сообщили, что в версиях Firefox 113, Firefox ESR 102.11 и 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Thunderbird 102.12 имеются ошибки безопасности при работе с памятью, некоторые из которых могут привести к её повреждению. Эта уязвимость затрагивает Firefox ESR &lt; 102.12, Firefox &lt; 114 и Thunderbird &lt; 102.12. Предполагается, что данная уязвимость безопасности памяти, CVE-2023-34416, может быть использована для запуска произвольного кода.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E1E1E1">
                  <a:lumMod val="10000"/>
                </a:srgb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Рейтинг CVSS v3.1 – 9.8.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E1E1E1">
                  <a:lumMod val="10000"/>
                </a:srgb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Уязвимость устраняется.</a:t>
            </a:r>
            <a:endParaRPr kumimoji="0" lang="ar-SY" sz="1050" b="1" i="0" u="none" strike="noStrike" kern="1200" cap="none" spc="0" normalizeH="0" baseline="0" noProof="0" dirty="0">
              <a:ln w="3175" cap="rnd" cmpd="dbl">
                <a:noFill/>
                <a:miter lim="800000"/>
              </a:ln>
              <a:solidFill>
                <a:srgbClr val="0E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Footer Text"/>
          <p:cNvSpPr txBox="1"/>
          <p:nvPr/>
        </p:nvSpPr>
        <p:spPr>
          <a:xfrm>
            <a:off x="486549" y="5657791"/>
            <a:ext cx="6586576" cy="1819166"/>
          </a:xfrm>
          <a:prstGeom prst="roundRect">
            <a:avLst>
              <a:gd name="adj" fmla="val 9433"/>
            </a:avLst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180000" tIns="108000" rIns="112250" bIns="108000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03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E38FF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CVE-2023-3029 Google Chrome</a:t>
            </a: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Уязвимость, возникающая из-за путаницы типов в движке JavaScript версии 8 в Google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Chrome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до версии 114.0.5735.110. Уязвимость позволяет удаленному злоумышленнику потенциально использовать повреждение кучи через созданную HTML-страницу. Актуальна для всех браузеров на базе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Chromium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: Opera,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Brave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Microsoft Edge и др.</a:t>
            </a: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Рейтинг CVSS v3.1 – 8.8.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E1E1E1">
                  <a:lumMod val="10000"/>
                </a:srgb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E1E1E1">
                    <a:lumMod val="1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Уязвимость устранена.</a:t>
            </a:r>
            <a:endParaRPr kumimoji="0" lang="ar-SY" sz="1050" b="1" i="0" u="none" strike="noStrike" kern="1200" cap="none" spc="0" normalizeH="0" baseline="0" noProof="0" dirty="0">
              <a:ln w="3175" cap="rnd" cmpd="dbl">
                <a:noFill/>
                <a:miter lim="800000"/>
              </a:ln>
              <a:solidFill>
                <a:srgbClr val="0E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Номер слайда 1">
            <a:extLst>
              <a:ext uri="{FF2B5EF4-FFF2-40B4-BE49-F238E27FC236}">
                <a16:creationId xmlns:a16="http://schemas.microsoft.com/office/drawing/2014/main" id="{33EC0E2F-3399-4FD3-91F5-3A479C862673}"/>
              </a:ext>
            </a:extLst>
          </p:cNvPr>
          <p:cNvSpPr txBox="1">
            <a:spLocks/>
          </p:cNvSpPr>
          <p:nvPr/>
        </p:nvSpPr>
        <p:spPr>
          <a:xfrm>
            <a:off x="12313006" y="9978478"/>
            <a:ext cx="534699" cy="23991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A868E-D3B8-9840-A7B6-A7FDB00232BD}" type="slidenum">
              <a:rPr kumimoji="0" lang="ru-RU" sz="1561" b="0" i="0" u="none" strike="noStrike" kern="1200" cap="none" spc="0" normalizeH="0" baseline="0" noProof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638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9EC2EC-F380-49F0-9D6A-DEAE5B4346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755" y="1423660"/>
            <a:ext cx="315295" cy="387657"/>
          </a:xfrm>
          <a:prstGeom prst="rect">
            <a:avLst/>
          </a:prstGeom>
        </p:spPr>
      </p:pic>
      <p:pic>
        <p:nvPicPr>
          <p:cNvPr id="12" name="Рисунок 11" descr="ÐÐ°ÑÑÐ¸Ð½ÐºÐ¸ Ð¿Ð¾ Ð·Ð°Ð¿ÑÐ¾ÑÑ windows logo">
            <a:extLst>
              <a:ext uri="{FF2B5EF4-FFF2-40B4-BE49-F238E27FC236}">
                <a16:creationId xmlns:a16="http://schemas.microsoft.com/office/drawing/2014/main" id="{86908728-6704-4EAD-90C5-ACFB98492D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814" y="3562350"/>
            <a:ext cx="453276" cy="39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File:Google Chrome icon (2011).png - Wikimedia Commons">
            <a:extLst>
              <a:ext uri="{FF2B5EF4-FFF2-40B4-BE49-F238E27FC236}">
                <a16:creationId xmlns:a16="http://schemas.microsoft.com/office/drawing/2014/main" id="{007820CD-6EEA-4E9F-8161-38EB1A42C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483" y="5657791"/>
            <a:ext cx="465155" cy="4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4ADB4B8C-E1AB-4E95-BDE6-CE162AF42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755" y="7688807"/>
            <a:ext cx="450492" cy="4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oogle Shape;116;p19">
            <a:extLst>
              <a:ext uri="{FF2B5EF4-FFF2-40B4-BE49-F238E27FC236}">
                <a16:creationId xmlns:a16="http://schemas.microsoft.com/office/drawing/2014/main" id="{B1BB70D5-5451-4D9B-80A4-524C41010C7D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8813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Текст 7">
            <a:extLst>
              <a:ext uri="{FF2B5EF4-FFF2-40B4-BE49-F238E27FC236}">
                <a16:creationId xmlns:a16="http://schemas.microsoft.com/office/drawing/2014/main" id="{59675378-FF22-4229-8CB0-9D34C3D888EB}"/>
              </a:ext>
            </a:extLst>
          </p:cNvPr>
          <p:cNvSpPr txBox="1">
            <a:spLocks/>
          </p:cNvSpPr>
          <p:nvPr/>
        </p:nvSpPr>
        <p:spPr>
          <a:xfrm>
            <a:off x="452394" y="2347865"/>
            <a:ext cx="6604044" cy="2207032"/>
          </a:xfrm>
          <a:prstGeom prst="rect">
            <a:avLst/>
          </a:prstGeom>
        </p:spPr>
        <p:txBody>
          <a:bodyPr lIns="0"/>
          <a:lstStyle>
            <a:lvl1pPr marL="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1pPr>
            <a:lvl2pPr marL="361950" indent="-285750" eaLnBrk="1" hangingPunct="1">
              <a:lnSpc>
                <a:spcPct val="117000"/>
              </a:lnSpc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600">
                <a:latin typeface="+mn-lt"/>
                <a:ea typeface="+mn-ea"/>
                <a:cs typeface="+mn-cs"/>
              </a:defRPr>
            </a:lvl2pPr>
            <a:lvl3pPr marL="9144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3pPr>
            <a:lvl4pPr marL="13716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4pPr>
            <a:lvl5pPr marL="18288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95507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12 мая издание «Ведомости» со ссылкой на данные ИБ-компаний сообщили, что в 2025-м году количество утечек из российских коммерческих компаний и госорганизаций по разным оценкам увеличилось в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1.5-2.5 раза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по сравнению с аналогичным периодом прошлого года.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171450" marR="0" lvl="0" indent="-171450" algn="l" defTabSz="995507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171450" marR="0" lvl="0" indent="-171450" algn="l" defTabSz="995507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По данным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Kaspersky Digital Footprint Intelligence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за первые 5 месяцев этого года на теневых форумах было обнаружено почти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200 миллионов строк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пользовательских данных, включая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81 миллион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с номерами телефонов 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23 миллиона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с паролями.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0" marR="0" lvl="0" indent="0" algn="l" defTabSz="995507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171450" marR="0" lvl="0" indent="-171450" algn="l" defTabSz="995507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Компания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BakerHostetler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в своем отчете привела статистику, согласно которой в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1160 расследованных инцидентах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около 40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%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жертв вымогателей соглашались заплатить выкуп за восстановление и нераспространение похищенных данных.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46BA447-4F85-4C86-9873-72C123F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Утечки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E5586D-0D94-47A6-903D-3D00E1C1E1DD}"/>
              </a:ext>
            </a:extLst>
          </p:cNvPr>
          <p:cNvSpPr txBox="1"/>
          <p:nvPr/>
        </p:nvSpPr>
        <p:spPr>
          <a:xfrm>
            <a:off x="452394" y="979818"/>
            <a:ext cx="6604044" cy="1263285"/>
          </a:xfrm>
          <a:prstGeom prst="roundRect">
            <a:avLst>
              <a:gd name="adj" fmla="val 14564"/>
            </a:avLst>
          </a:prstGeom>
          <a:solidFill>
            <a:schemeClr val="accent6">
              <a:alpha val="70000"/>
            </a:schemeClr>
          </a:solidFill>
        </p:spPr>
        <p:txBody>
          <a:bodyPr wrap="square" lIns="180000" tIns="180000" rIns="449000" bIns="180000" numCol="1" spcCol="576000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87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Утечки данных являются одной из самых опасных угроз для компаний. Помимо рисков проникновения в инфраструктуру, наличие утечек также наносит ощутимый удар по репутации и финансовому состоянию любой организации. 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5D1B57D8-87FD-4138-9534-FFF9ADCFA8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9503206"/>
              </p:ext>
            </p:extLst>
          </p:nvPr>
        </p:nvGraphicFramePr>
        <p:xfrm>
          <a:off x="142141" y="3787140"/>
          <a:ext cx="4753189" cy="2737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246626D1-9BB7-4E37-AF58-B14F966662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4070417"/>
              </p:ext>
            </p:extLst>
          </p:nvPr>
        </p:nvGraphicFramePr>
        <p:xfrm>
          <a:off x="3230350" y="3825240"/>
          <a:ext cx="4687047" cy="2699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366AED78-49F5-48CE-B882-70599EBAC7F5}"/>
              </a:ext>
            </a:extLst>
          </p:cNvPr>
          <p:cNvSpPr txBox="1">
            <a:spLocks/>
          </p:cNvSpPr>
          <p:nvPr/>
        </p:nvSpPr>
        <p:spPr>
          <a:xfrm>
            <a:off x="574314" y="6547944"/>
            <a:ext cx="4696109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* По данным исследования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InfoWatch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7B85113E-918A-4658-807F-305684CC15EB}"/>
              </a:ext>
            </a:extLst>
          </p:cNvPr>
          <p:cNvSpPr txBox="1">
            <a:spLocks/>
          </p:cNvSpPr>
          <p:nvPr/>
        </p:nvSpPr>
        <p:spPr>
          <a:xfrm>
            <a:off x="482344" y="6950349"/>
            <a:ext cx="6604044" cy="1150709"/>
          </a:xfrm>
          <a:prstGeom prst="rect">
            <a:avLst/>
          </a:prstGeom>
        </p:spPr>
        <p:txBody>
          <a:bodyPr lIns="0"/>
          <a:lstStyle>
            <a:lvl1pPr marL="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1pPr>
            <a:lvl2pPr marL="361950" indent="-285750" eaLnBrk="1" hangingPunct="1">
              <a:lnSpc>
                <a:spcPct val="117000"/>
              </a:lnSpc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600">
                <a:latin typeface="+mn-lt"/>
                <a:ea typeface="+mn-ea"/>
                <a:cs typeface="+mn-cs"/>
              </a:defRPr>
            </a:lvl2pPr>
            <a:lvl3pPr marL="9144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3pPr>
            <a:lvl4pPr marL="13716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4pPr>
            <a:lvl5pPr marL="18288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507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В 3 квартале в публичных утечках выявлено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500 корпоративных учётных записей  ООО «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Инсека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»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. Большинство из них присутствовали в выложенной в открытом доступе базе данных клиентов страховой компании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«Жизнь»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. </a:t>
            </a:r>
          </a:p>
          <a:p>
            <a:pPr marL="0" marR="0" lvl="0" indent="0" algn="l" defTabSz="995507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Также корпоративные учётные данные были обнаружены в утечках </a:t>
            </a:r>
            <a:r>
              <a:rPr lang="en-US" sz="1050" b="1" dirty="0">
                <a:solidFill>
                  <a:srgbClr val="030124"/>
                </a:solidFill>
                <a:latin typeface="Inter" panose="020B0502030000000004" pitchFamily="34" charset="0"/>
              </a:rPr>
              <a:t>….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. В каждом из случаев проведена разъяснительная работа с пользователями, зарегистрировавшимися на внешних ресурсах с указанием корпоративных почт, о недопустимости подобных действий.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</p:txBody>
      </p:sp>
      <p:pic>
        <p:nvPicPr>
          <p:cNvPr id="11" name="Google Shape;116;p19">
            <a:extLst>
              <a:ext uri="{FF2B5EF4-FFF2-40B4-BE49-F238E27FC236}">
                <a16:creationId xmlns:a16="http://schemas.microsoft.com/office/drawing/2014/main" id="{6D588BA0-D41B-4022-A8C1-A04E1DC2C9B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008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22B4BAE-BA16-414A-89F3-AD7ED4D83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</a:t>
            </a:r>
            <a:endParaRPr lang="ru-RU" dirty="0"/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59675378-FF22-4229-8CB0-9D34C3D888EB}"/>
              </a:ext>
            </a:extLst>
          </p:cNvPr>
          <p:cNvSpPr txBox="1">
            <a:spLocks/>
          </p:cNvSpPr>
          <p:nvPr/>
        </p:nvSpPr>
        <p:spPr>
          <a:xfrm>
            <a:off x="497329" y="2609723"/>
            <a:ext cx="6565016" cy="1327608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1pPr>
            <a:lvl2pPr marL="361950" indent="-285750" eaLnBrk="1" hangingPunct="1">
              <a:lnSpc>
                <a:spcPct val="117000"/>
              </a:lnSpc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600">
                <a:latin typeface="+mn-lt"/>
                <a:ea typeface="+mn-ea"/>
                <a:cs typeface="+mn-cs"/>
              </a:defRPr>
            </a:lvl2pPr>
            <a:lvl3pPr marL="9144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3pPr>
            <a:lvl4pPr marL="13716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4pPr>
            <a:lvl5pPr marL="18288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87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050" b="0" i="0" u="none" strike="noStrike" kern="1200" cap="none" spc="31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Статистика последних лет показывает, что атаки на цепочку поставок из набирающего популярность тренда превратились в один из основных векторов  атак злоумышленников. В конце 2022 года эксперты обнаружили </a:t>
            </a:r>
            <a:r>
              <a:rPr kumimoji="0" lang="ru-RU" sz="1050" b="1" i="0" u="none" strike="noStrike" kern="1200" cap="none" spc="31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88000 вредоносных пакетов </a:t>
            </a:r>
            <a:r>
              <a:rPr kumimoji="0" lang="ru-RU" sz="1050" b="0" i="0" u="none" strike="noStrike" kern="1200" cap="none" spc="31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с открытым исходным кодом, что соответствует </a:t>
            </a:r>
            <a:r>
              <a:rPr kumimoji="0" lang="ru-RU" sz="1050" b="1" i="0" u="none" strike="noStrike" kern="1200" cap="none" spc="31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742-процентному увеличению </a:t>
            </a:r>
            <a:r>
              <a:rPr kumimoji="0" lang="ru-RU" sz="1050" b="0" i="0" u="none" strike="noStrike" kern="1200" cap="none" spc="31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количества подобных программ  всего за три года. Также не стоит забывать про резонансные атаки на проприетарное ПО, в результате которых были скомпрометированы инфраструктуры многих компаний.</a:t>
            </a:r>
            <a:br>
              <a:rPr kumimoji="0" lang="ru-RU" sz="1050" b="0" i="0" u="none" strike="noStrike" kern="1200" cap="none" spc="31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</a:br>
            <a:r>
              <a:rPr kumimoji="0" lang="ru-RU" sz="1050" b="0" i="0" u="none" strike="noStrike" kern="1200" cap="none" spc="31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Текущий квартал не стал исключением. Атаки на цепочку поставок продолжаются.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D4F9D-0EDA-4609-A555-98044E202608}"/>
              </a:ext>
            </a:extLst>
          </p:cNvPr>
          <p:cNvSpPr txBox="1"/>
          <p:nvPr/>
        </p:nvSpPr>
        <p:spPr>
          <a:xfrm>
            <a:off x="452395" y="991655"/>
            <a:ext cx="6604044" cy="1080000"/>
          </a:xfrm>
          <a:prstGeom prst="roundRect">
            <a:avLst/>
          </a:prstGeom>
          <a:solidFill>
            <a:schemeClr val="accent6">
              <a:alpha val="70000"/>
            </a:schemeClr>
          </a:solidFill>
        </p:spPr>
        <p:txBody>
          <a:bodyPr wrap="square" lIns="180000" tIns="144000" rIns="449000" bIns="144000" numCol="1" spcCol="576000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87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Атаки на цепочку поставок (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supply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chain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attacks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) — это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киберинциденты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, в ходе которых злоумышленник внедряет вредоносный код в программное или аппаратное обеспечение, поставляемое третьими лицами.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D569A0-6377-43D7-A7A4-A1D1A2A251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76"/>
          <a:stretch/>
        </p:blipFill>
        <p:spPr bwMode="auto">
          <a:xfrm>
            <a:off x="497329" y="5686190"/>
            <a:ext cx="6565016" cy="399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116;p19">
            <a:extLst>
              <a:ext uri="{FF2B5EF4-FFF2-40B4-BE49-F238E27FC236}">
                <a16:creationId xmlns:a16="http://schemas.microsoft.com/office/drawing/2014/main" id="{FC056CEF-1FC4-458F-BDC5-A703D889865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4513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6DF16DA-B24C-8591-B1EF-8996D9A3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94" y="429910"/>
            <a:ext cx="5304568" cy="321627"/>
          </a:xfrm>
        </p:spPr>
        <p:txBody>
          <a:bodyPr/>
          <a:lstStyle/>
          <a:p>
            <a:r>
              <a:rPr lang="en-US" dirty="0"/>
              <a:t>Supply</a:t>
            </a:r>
            <a:r>
              <a:rPr lang="ru-RU" dirty="0"/>
              <a:t> </a:t>
            </a:r>
            <a:r>
              <a:rPr lang="en-US" dirty="0"/>
              <a:t>chain</a:t>
            </a:r>
            <a:endParaRPr lang="ru-RU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35D44FEB-CF2D-4FC6-99B8-4027644E5097}"/>
              </a:ext>
            </a:extLst>
          </p:cNvPr>
          <p:cNvSpPr>
            <a:spLocks/>
          </p:cNvSpPr>
          <p:nvPr/>
        </p:nvSpPr>
        <p:spPr>
          <a:xfrm>
            <a:off x="503236" y="3777964"/>
            <a:ext cx="6587341" cy="3135883"/>
          </a:xfrm>
          <a:prstGeom prst="roundRect">
            <a:avLst>
              <a:gd name="adj" fmla="val 1179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80000" tIns="144000" rIns="168375" bIns="144000" numCol="1" anchor="t">
            <a:spAutoFit/>
          </a:bodyPr>
          <a:lstStyle>
            <a:lvl1pPr>
              <a:spcBef>
                <a:spcPts val="30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38FF"/>
              </a:buClr>
              <a:buSzPct val="120000"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Множественные атаки через уязвимость в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MOVEit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+mn-cs"/>
            </a:endParaRP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38FF"/>
              </a:buClr>
              <a:buSzPct val="120000"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27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мая стало известно о первых атаках на популярное приложение для управления передачей файлов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MOVEit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Transfer.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В ходе атак эксплуатируется уязвимость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CVE-2023-34362,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с помощью которой злоумышленники размещают на уязвимых серверах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кастомные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веб-шеллы, что позволяет им получить список файлов, хранящихся на сервере, скачать файлы, а также похитить учетные данные и секреты учетных записей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Azure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Blob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Storage, включая параметры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AzureBlobStorageAccount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AzureBlobKey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AzureBlobContainer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38FF"/>
              </a:buClr>
              <a:buSzPct val="120000"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Аналитики Microsoft связали атаки с вымогательской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хак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-группой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Clop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За короткий период времени оказались скомпрометированы сотни компаний. Среди жертв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British Airways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Агентство США по кибербезопасности и безопасности инфраструктуры (CISA), подразделения Министерства энергетики США, нефтегазовая компания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Shell, Jaguar, Land Rover, BBC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Siemens Energy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и др. Полный перечень пострадавших опубликован на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Data Leak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сайте злоумышленников, где они также выставили требования о выкупе.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5E13B7D-0B03-4515-8996-EF6AC0E5923E}"/>
              </a:ext>
            </a:extLst>
          </p:cNvPr>
          <p:cNvSpPr>
            <a:spLocks/>
          </p:cNvSpPr>
          <p:nvPr/>
        </p:nvSpPr>
        <p:spPr>
          <a:xfrm>
            <a:off x="503237" y="1374317"/>
            <a:ext cx="6587341" cy="2126500"/>
          </a:xfrm>
          <a:prstGeom prst="roundRect">
            <a:avLst>
              <a:gd name="adj" fmla="val 9947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80000" tIns="144000" rIns="216000" bIns="144000" numCol="1" anchor="t">
            <a:spAutoFit/>
          </a:bodyPr>
          <a:lstStyle>
            <a:lvl1pPr>
              <a:spcBef>
                <a:spcPts val="30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38FF"/>
              </a:buClr>
              <a:buSzPct val="120000"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Компрометация приложения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+mn-cs"/>
              </a:rPr>
              <a:t>3CX</a:t>
            </a:r>
          </a:p>
          <a:p>
            <a:pPr marL="0" marR="0" lvl="0" indent="0" algn="l" defTabSz="142545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Обнаруженная 29 марта 2023 г. кампания, в рамках которой злоумышленники распространяют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троянизированные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установщики популярного инструмента для голосовых и видео конференций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3CXDesktopApp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продолжилась и во втором квартале. Исследователям удалось выяснить, что вместе со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стилером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в рамках атаки на цепочку поставок 3CX распространяется и другая вредоносная полезная нагрузка. Организаторы атаки также внедряют на целевых системах полнофункциональный модульный бэкдор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Gopuram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который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многие исследователи приписывают северокорейской группировке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Lazarus.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pic>
        <p:nvPicPr>
          <p:cNvPr id="6" name="Google Shape;116;p19">
            <a:extLst>
              <a:ext uri="{FF2B5EF4-FFF2-40B4-BE49-F238E27FC236}">
                <a16:creationId xmlns:a16="http://schemas.microsoft.com/office/drawing/2014/main" id="{2656D952-9A74-4F39-8653-80722F39B3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751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6">
            <a:extLst>
              <a:ext uri="{FF2B5EF4-FFF2-40B4-BE49-F238E27FC236}">
                <a16:creationId xmlns:a16="http://schemas.microsoft.com/office/drawing/2014/main" id="{A76464E8-A196-4098-A4B8-8B25B824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DDoS-</a:t>
            </a:r>
            <a:r>
              <a:rPr lang="ru-RU" dirty="0"/>
              <a:t>атаки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22270-0A6D-45A4-82A8-E6D82113893B}"/>
              </a:ext>
            </a:extLst>
          </p:cNvPr>
          <p:cNvSpPr txBox="1"/>
          <p:nvPr/>
        </p:nvSpPr>
        <p:spPr>
          <a:xfrm>
            <a:off x="452394" y="871788"/>
            <a:ext cx="6604044" cy="2560542"/>
          </a:xfrm>
          <a:prstGeom prst="roundRect">
            <a:avLst>
              <a:gd name="adj" fmla="val 8420"/>
            </a:avLst>
          </a:prstGeom>
          <a:solidFill>
            <a:schemeClr val="accent6">
              <a:alpha val="70000"/>
            </a:schemeClr>
          </a:solidFill>
        </p:spPr>
        <p:txBody>
          <a:bodyPr wrap="square" lIns="180000" tIns="108000" rIns="36000" bIns="108000" numCol="1" spcCol="576000" rtlCol="0">
            <a:spAutoFit/>
          </a:bodyPr>
          <a:lstStyle/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По-прежнему продолжаются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DDoS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-атаки на российские информационные ресурсы со стороны политически-мотивированных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хактивистов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.</a:t>
            </a:r>
            <a:endParaRPr kumimoji="0" lang="en-US" sz="1200" b="0" i="0" u="none" strike="noStrike" kern="1200" cap="none" spc="31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/>
            </a:endParaRP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endParaRPr kumimoji="0" lang="en-US" sz="1200" b="0" i="0" u="none" strike="noStrike" kern="1200" cap="none" spc="31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/>
            </a:endParaRP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Аналитики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Qrator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Labs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 обнаружили, что </a:t>
            </a:r>
            <a:r>
              <a:rPr kumimoji="0" lang="ru-RU" sz="12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продолжительность </a:t>
            </a:r>
            <a:r>
              <a:rPr kumimoji="0" lang="ru-RU" sz="1200" b="1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DDoS</a:t>
            </a:r>
            <a:r>
              <a:rPr kumimoji="0" lang="ru-RU" sz="12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-атак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 на российские IT-ресурсы </a:t>
            </a:r>
            <a:r>
              <a:rPr kumimoji="0" lang="ru-RU" sz="1200" b="1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сократилась более чем в шесть раз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 с прошлого года и стала в среднем равна двум суткам.</a:t>
            </a:r>
            <a:endParaRPr kumimoji="0" lang="en-US" sz="1200" b="0" i="0" u="none" strike="noStrike" kern="1200" cap="none" spc="31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/>
            </a:endParaRP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endParaRPr kumimoji="0" lang="ru-RU" sz="1200" b="0" i="0" u="none" strike="noStrike" kern="1200" cap="none" spc="31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+mn-ea"/>
              <a:cs typeface="Arial"/>
            </a:endParaRP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8FF">
                  <a:lumMod val="75000"/>
                </a:srgbClr>
              </a:buClr>
              <a:buSzPct val="150000"/>
              <a:buFontTx/>
              <a:buNone/>
              <a:tabLst/>
              <a:defRPr/>
            </a:pP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Сокращение атак связывают в том числе с успешной блокировкой входящего трафика по геолокации: атаки из-за рубежа становятся неэффективными. По этой причине на серых рынках вырастают в цене российские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socks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-сервера, что значительно повышает стоимость мощной </a:t>
            </a:r>
            <a:r>
              <a:rPr kumimoji="0" lang="ru-RU" sz="1200" b="0" i="0" u="none" strike="noStrike" kern="1200" cap="none" spc="31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DDoS</a:t>
            </a:r>
            <a:r>
              <a:rPr kumimoji="0" lang="ru-RU" sz="1200" b="0" i="0" u="none" strike="noStrike" kern="1200" cap="none" spc="31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+mn-ea"/>
                <a:cs typeface="Arial"/>
              </a:rPr>
              <a:t>-атаки.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9A5839BB-3A4F-4946-8121-FF6FEA345A4C}"/>
              </a:ext>
            </a:extLst>
          </p:cNvPr>
          <p:cNvSpPr txBox="1">
            <a:spLocks/>
          </p:cNvSpPr>
          <p:nvPr/>
        </p:nvSpPr>
        <p:spPr>
          <a:xfrm>
            <a:off x="477815" y="3596121"/>
            <a:ext cx="6604044" cy="4356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1pPr>
            <a:lvl2pPr marL="361950" indent="-285750" eaLnBrk="1" hangingPunct="1">
              <a:lnSpc>
                <a:spcPct val="117000"/>
              </a:lnSpc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600">
                <a:latin typeface="+mn-lt"/>
                <a:ea typeface="+mn-ea"/>
                <a:cs typeface="+mn-cs"/>
              </a:defRPr>
            </a:lvl2pPr>
            <a:lvl3pPr marL="9144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3pPr>
            <a:lvl4pPr marL="13716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4pPr>
            <a:lvl5pPr marL="18288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6FA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Хактивисты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из группировки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«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ITArmyofUkraine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»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сменили вектор атак с финансовых организаций России на страховые.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3B8BF7F1-BCB7-4454-864C-B91EA9EC7FB4}"/>
              </a:ext>
            </a:extLst>
          </p:cNvPr>
          <p:cNvSpPr txBox="1">
            <a:spLocks/>
          </p:cNvSpPr>
          <p:nvPr/>
        </p:nvSpPr>
        <p:spPr>
          <a:xfrm>
            <a:off x="477815" y="5256356"/>
            <a:ext cx="6604044" cy="1146596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1pPr>
            <a:lvl2pPr marL="361950" indent="-285750" eaLnBrk="1" hangingPunct="1">
              <a:lnSpc>
                <a:spcPct val="117000"/>
              </a:lnSpc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600">
                <a:latin typeface="+mn-lt"/>
                <a:ea typeface="+mn-ea"/>
                <a:cs typeface="+mn-cs"/>
              </a:defRPr>
            </a:lvl2pPr>
            <a:lvl3pPr marL="9144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3pPr>
            <a:lvl4pPr marL="13716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4pPr>
            <a:lvl5pPr marL="18288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6FA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Специалисты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StormWall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сообщали о продолжающихся все майские праздники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DDoS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-атаках на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музеи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театры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агрегаторы билетов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В числе жертв оказались 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операторы платных дорог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6FA"/>
              </a:buClr>
              <a:buSzTx/>
              <a:buFontTx/>
              <a:buNone/>
              <a:tabLst/>
              <a:defRPr/>
            </a:pP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6FA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 сравнении с этим периодом прошлого года количество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DDoS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-атак на сферу культуры выросло на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62%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на онлайн-сервисы для бронирования билетов и отелей — на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36%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на транспортные системы — на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28%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644399A2-3091-494A-B47A-9B0C48107391}"/>
              </a:ext>
            </a:extLst>
          </p:cNvPr>
          <p:cNvSpPr txBox="1">
            <a:spLocks/>
          </p:cNvSpPr>
          <p:nvPr/>
        </p:nvSpPr>
        <p:spPr>
          <a:xfrm>
            <a:off x="477815" y="4141949"/>
            <a:ext cx="6604044" cy="96885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1pPr>
            <a:lvl2pPr marL="361950" indent="-285750" eaLnBrk="1" hangingPunct="1">
              <a:lnSpc>
                <a:spcPct val="117000"/>
              </a:lnSpc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600">
                <a:latin typeface="+mn-lt"/>
                <a:ea typeface="+mn-ea"/>
                <a:cs typeface="+mn-cs"/>
              </a:defRPr>
            </a:lvl2pPr>
            <a:lvl3pPr marL="9144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3pPr>
            <a:lvl4pPr marL="13716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4pPr>
            <a:lvl5pPr marL="1828800" eaLnBrk="1" hangingPunct="1">
              <a:lnSpc>
                <a:spcPct val="117000"/>
              </a:lnSpc>
              <a:spcAft>
                <a:spcPts val="600"/>
              </a:spcAft>
              <a:defRPr sz="1600"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6FA"/>
              </a:buClr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10 апреля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электронные ресурсы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Федеральной Таможенной Службы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подверглись кибератаке. На таможенных пунктах был временно введен режим бумажного документооборота.</a:t>
            </a: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6FA"/>
              </a:buClr>
              <a:buSzTx/>
              <a:buFontTx/>
              <a:buNone/>
              <a:tabLst/>
              <a:defRPr/>
            </a:pP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030124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99550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6FA"/>
              </a:buClr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25-26 апреля </a:t>
            </a:r>
            <a:r>
              <a:rPr kumimoji="0" lang="ru-RU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DDoS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-атаки привели к временной неработоспособности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порталов для бухгалтеров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klerk.ru, glavbukh.ru, buhsoft.ru и audit-it.ru.</a:t>
            </a:r>
          </a:p>
        </p:txBody>
      </p:sp>
      <p:pic>
        <p:nvPicPr>
          <p:cNvPr id="8" name="Google Shape;116;p19">
            <a:extLst>
              <a:ext uri="{FF2B5EF4-FFF2-40B4-BE49-F238E27FC236}">
                <a16:creationId xmlns:a16="http://schemas.microsoft.com/office/drawing/2014/main" id="{048C4440-6221-452A-8CE3-357B704453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7094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Inhaltsplatzhalter 4"/>
          <p:cNvSpPr txBox="1">
            <a:spLocks/>
          </p:cNvSpPr>
          <p:nvPr/>
        </p:nvSpPr>
        <p:spPr>
          <a:xfrm>
            <a:off x="452394" y="918759"/>
            <a:ext cx="6589714" cy="2017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2502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Наблюдаемые и анализируемые данные дают нам основания полагать,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что в следующем квартале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количество угроз ИБ будет оставаться 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на прежнем высоком уровне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142502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0" marR="0" lvl="0" indent="0" algn="l" defTabSz="142502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Злоумышленники за последний год накопили большой опыт при совершении компьютерных атак на реальные инфраструктуры жертв. В свободном доступе также оказалось большое количество конфиденциальных данных, которые могут быть легко использованы при совершении атак с применением методов социальной инженерии и шантажа. Мы считаем, что впереди нас ждёт еще много резонансных компьютерных атак, крупных утечек данных, и рекордных по мощности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DDoS-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30124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атак.</a:t>
            </a:r>
          </a:p>
        </p:txBody>
      </p:sp>
      <p:sp>
        <p:nvSpPr>
          <p:cNvPr id="49" name="Title 3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ru-RU" dirty="0" err="1"/>
              <a:t>ПрогнозЫ</a:t>
            </a:r>
            <a:r>
              <a:rPr lang="ru-RU" dirty="0"/>
              <a:t> 2026</a:t>
            </a:r>
            <a:endParaRPr lang="en-US" dirty="0"/>
          </a:p>
        </p:txBody>
      </p:sp>
      <p:sp>
        <p:nvSpPr>
          <p:cNvPr id="71" name="Rectangle: Rounded Corners 3"/>
          <p:cNvSpPr>
            <a:spLocks/>
          </p:cNvSpPr>
          <p:nvPr/>
        </p:nvSpPr>
        <p:spPr>
          <a:xfrm>
            <a:off x="452394" y="4693913"/>
            <a:ext cx="3232527" cy="1566031"/>
          </a:xfrm>
          <a:prstGeom prst="roundRect">
            <a:avLst>
              <a:gd name="adj" fmla="val 13135"/>
            </a:avLst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08000" rIns="180000" bIns="180000" rtlCol="0" anchor="t">
            <a:noAutofit/>
          </a:bodyPr>
          <a:lstStyle/>
          <a:p>
            <a:pPr marL="0" marR="0" lvl="0" indent="0" algn="l" defTabSz="1900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В первом квартале тема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0-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day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уязвимостей обошла стороной российские компании. Уязвимость в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MOVEit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Transfer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не была актуальна для России, по причине не популярности данного ПО. Во втором квартале может так не повезти. </a:t>
            </a:r>
          </a:p>
        </p:txBody>
      </p:sp>
      <p:sp>
        <p:nvSpPr>
          <p:cNvPr id="75" name="Rectangle: Rounded Corners 3"/>
          <p:cNvSpPr>
            <a:spLocks/>
          </p:cNvSpPr>
          <p:nvPr/>
        </p:nvSpPr>
        <p:spPr>
          <a:xfrm>
            <a:off x="3874754" y="2993956"/>
            <a:ext cx="3232527" cy="1828717"/>
          </a:xfrm>
          <a:prstGeom prst="roundRect">
            <a:avLst>
              <a:gd name="adj" fmla="val 13609"/>
            </a:avLst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08000" rIns="180000" bIns="180000" rtlCol="0" anchor="t">
            <a:noAutofit/>
          </a:bodyPr>
          <a:lstStyle/>
          <a:p>
            <a:pPr marL="0" marR="0" lvl="0" indent="0" algn="l" defTabSz="1900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Отсутствие каких-либо значимых последствий для компаний, допустивших утечки конфиденциальных данных, в том числе со стороны регулирующих органов, позволяет сделать вывод о том, что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количество утечек не будет снижаться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То же самое можно сказать и об активности атакующих.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77" name="Rectangle: Rounded Corners 3"/>
          <p:cNvSpPr>
            <a:spLocks/>
          </p:cNvSpPr>
          <p:nvPr/>
        </p:nvSpPr>
        <p:spPr>
          <a:xfrm>
            <a:off x="3874754" y="6552467"/>
            <a:ext cx="3232527" cy="1443770"/>
          </a:xfrm>
          <a:prstGeom prst="roundRect">
            <a:avLst>
              <a:gd name="adj" fmla="val 12546"/>
            </a:avLst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08000" rIns="180000" bIns="180000" rtlCol="0" anchor="t">
            <a:noAutofit/>
          </a:bodyPr>
          <a:lstStyle/>
          <a:p>
            <a:pPr marL="0" marR="0" lvl="0" indent="0" algn="l" defTabSz="1900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Продолжатся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массированные 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DDoS-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атаки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на российские 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онлайн-ресурсы.</a:t>
            </a:r>
          </a:p>
          <a:p>
            <a:pPr marL="0" marR="0" lvl="0" indent="0" algn="l" defTabSz="1900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Под прикрытием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DDoS-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атак будут совершаться другие зловредные действия, направленные на компрометацию инфраструктур жертв.</a:t>
            </a:r>
          </a:p>
        </p:txBody>
      </p:sp>
      <p:sp>
        <p:nvSpPr>
          <p:cNvPr id="81" name="Rectangle: Rounded Corners 3"/>
          <p:cNvSpPr>
            <a:spLocks/>
          </p:cNvSpPr>
          <p:nvPr/>
        </p:nvSpPr>
        <p:spPr>
          <a:xfrm>
            <a:off x="3885364" y="8120270"/>
            <a:ext cx="3181684" cy="1620555"/>
          </a:xfrm>
          <a:prstGeom prst="round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08000" rIns="180000" bIns="180000" rtlCol="0" anchor="t">
            <a:noAutofit/>
          </a:bodyPr>
          <a:lstStyle/>
          <a:p>
            <a:pPr marL="0" marR="0" lvl="0" indent="0" algn="l" defTabSz="1900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Согласно статистике, раз в квартал в мире происходит минимум одна резонансная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Supply chain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кампания. Возьмём на себя смелость сделать прогноз о том, что и в следующем квартале данный тренд останется неизменным и мы будем наблюдать новые кейсы.</a:t>
            </a:r>
          </a:p>
        </p:txBody>
      </p:sp>
      <p:sp>
        <p:nvSpPr>
          <p:cNvPr id="41" name="Rectangle: Rounded Corners 3"/>
          <p:cNvSpPr>
            <a:spLocks/>
          </p:cNvSpPr>
          <p:nvPr/>
        </p:nvSpPr>
        <p:spPr>
          <a:xfrm>
            <a:off x="441785" y="8254196"/>
            <a:ext cx="3232527" cy="1486629"/>
          </a:xfrm>
          <a:prstGeom prst="roundRect">
            <a:avLst>
              <a:gd name="adj" fmla="val 14220"/>
            </a:avLst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08000" rIns="0" bIns="180000" rtlCol="0" anchor="t">
            <a:noAutofit/>
          </a:bodyPr>
          <a:lstStyle/>
          <a:p>
            <a:pPr marL="0" marR="0" lvl="0" indent="0" algn="l" defTabSz="1900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Ранее неизвестные для российских защитников атаки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шифровальщиков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стали одним из главных элементов ландшафта киберугроз отечественных компаний. В следующем квартале ожидаем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увеличения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подобных атак.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73" name="Rectangle: Rounded Corners 3"/>
          <p:cNvSpPr>
            <a:spLocks/>
          </p:cNvSpPr>
          <p:nvPr/>
        </p:nvSpPr>
        <p:spPr>
          <a:xfrm>
            <a:off x="452394" y="6393870"/>
            <a:ext cx="3232527" cy="1726400"/>
          </a:xfrm>
          <a:prstGeom prst="round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08000" rIns="180000" bIns="180000" rtlCol="0" anchor="t">
            <a:noAutofit/>
          </a:bodyPr>
          <a:lstStyle/>
          <a:p>
            <a:pPr marL="0" marR="0" lvl="0" indent="0" algn="l" defTabSz="1900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Киберпреступники продолжат пользоваться методами социальной инженерии в 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фишинговых и </a:t>
            </a: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скамерских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атаках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 Будет активно использоваться тема российско-украинского политического конфликта и западных санкций</a:t>
            </a:r>
          </a:p>
        </p:txBody>
      </p:sp>
      <p:sp>
        <p:nvSpPr>
          <p:cNvPr id="78" name="Rectangle: Rounded Corners 3"/>
          <p:cNvSpPr/>
          <p:nvPr/>
        </p:nvSpPr>
        <p:spPr>
          <a:xfrm>
            <a:off x="452394" y="2993956"/>
            <a:ext cx="3232527" cy="1566031"/>
          </a:xfrm>
          <a:prstGeom prst="round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08000" rIns="180000" bIns="180000" rtlCol="0" anchor="t">
            <a:noAutofit/>
          </a:bodyPr>
          <a:lstStyle/>
          <a:p>
            <a:pPr marL="0" marR="0" lvl="0" indent="0" algn="l" defTabSz="14254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Хактивисты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, активно поддерживаемые правительствами прозападных стран, продолжат совершать свои нападки на российские компании.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sp>
        <p:nvSpPr>
          <p:cNvPr id="83" name="Rectangle: Rounded Corners 3"/>
          <p:cNvSpPr>
            <a:spLocks/>
          </p:cNvSpPr>
          <p:nvPr/>
        </p:nvSpPr>
        <p:spPr>
          <a:xfrm>
            <a:off x="3874754" y="4946706"/>
            <a:ext cx="3232527" cy="1481728"/>
          </a:xfrm>
          <a:prstGeom prst="round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08000" rIns="180000" bIns="180000" rtlCol="0" anchor="t">
            <a:noAutofit/>
          </a:bodyPr>
          <a:lstStyle/>
          <a:p>
            <a:pPr marL="0" marR="0" lvl="0" indent="0" algn="l" defTabSz="1900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67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Геополитические конфликты и напряженность в отношениях стран даёт основание предполагать, что активность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APT-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группировок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38FF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будет продолжать расти. Будут появляться новые группировки, а также ответвления от уже существующих.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8FF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pic>
        <p:nvPicPr>
          <p:cNvPr id="14" name="Google Shape;116;p19">
            <a:extLst>
              <a:ext uri="{FF2B5EF4-FFF2-40B4-BE49-F238E27FC236}">
                <a16:creationId xmlns:a16="http://schemas.microsoft.com/office/drawing/2014/main" id="{DFFBA151-2D84-435D-923F-BACDDF56ED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50" y="9877787"/>
            <a:ext cx="5943600" cy="23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95295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RUS_Template_Inno">
  <a:themeElements>
    <a:clrScheme name="asdsa">
      <a:dk1>
        <a:srgbClr val="030124"/>
      </a:dk1>
      <a:lt1>
        <a:srgbClr val="FFFFFF"/>
      </a:lt1>
      <a:dk2>
        <a:srgbClr val="0038FF"/>
      </a:dk2>
      <a:lt2>
        <a:srgbClr val="E1E1E1"/>
      </a:lt2>
      <a:accent1>
        <a:srgbClr val="0E38FF"/>
      </a:accent1>
      <a:accent2>
        <a:srgbClr val="FF6903"/>
      </a:accent2>
      <a:accent3>
        <a:srgbClr val="9703FE"/>
      </a:accent3>
      <a:accent4>
        <a:srgbClr val="00D1F2"/>
      </a:accent4>
      <a:accent5>
        <a:srgbClr val="FFC100"/>
      </a:accent5>
      <a:accent6>
        <a:srgbClr val="D2E1FA"/>
      </a:accent6>
      <a:hlink>
        <a:srgbClr val="0038FF"/>
      </a:hlink>
      <a:folHlink>
        <a:srgbClr val="9703F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t">
        <a:noAutofit/>
      </a:bodyPr>
      <a:lstStyle>
        <a:defPPr algn="l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>
        <a:spAutoFit/>
      </a:bodyPr>
      <a:lstStyle>
        <a:defPPr algn="l">
          <a:lnSpc>
            <a:spcPct val="110000"/>
          </a:lnSpc>
          <a:spcAft>
            <a:spcPts val="600"/>
          </a:spcAft>
          <a:defRPr sz="1600" kern="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US_Template_Inno" id="{E5367636-72FE-3247-837A-FF827C146041}" vid="{8AE46234-0136-634B-A662-9DFFB403DD59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345</TotalTime>
  <Words>3433</Words>
  <Application>Microsoft Office PowerPoint</Application>
  <PresentationFormat>Произвольный</PresentationFormat>
  <Paragraphs>352</Paragraphs>
  <Slides>18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9" baseType="lpstr">
      <vt:lpstr>Arial</vt:lpstr>
      <vt:lpstr>Arial Black</vt:lpstr>
      <vt:lpstr>Arial Nova Light</vt:lpstr>
      <vt:lpstr>Calibri</vt:lpstr>
      <vt:lpstr>Calibri Light</vt:lpstr>
      <vt:lpstr>CoFo Kak Black</vt:lpstr>
      <vt:lpstr>Inter</vt:lpstr>
      <vt:lpstr>Montserrat</vt:lpstr>
      <vt:lpstr>Wingdings</vt:lpstr>
      <vt:lpstr>Тема Office</vt:lpstr>
      <vt:lpstr>1_RUS_Template_Inno</vt:lpstr>
      <vt:lpstr>Презентация PowerPoint</vt:lpstr>
      <vt:lpstr>Презентация PowerPoint</vt:lpstr>
      <vt:lpstr>Основные  результаты</vt:lpstr>
      <vt:lpstr>Основные  результаты</vt:lpstr>
      <vt:lpstr>Покрытие  ландшафта угроз</vt:lpstr>
      <vt:lpstr>Покрытие  ландшафта угроз</vt:lpstr>
      <vt:lpstr>Ландшафт  угроз ИБ 2025</vt:lpstr>
      <vt:lpstr>Атаки  на Образовательную сферу</vt:lpstr>
      <vt:lpstr>Активные  APT-группировки</vt:lpstr>
      <vt:lpstr>Активные  APT-группировки, Атакующие РФ </vt:lpstr>
      <vt:lpstr>Вредоносное ПО</vt:lpstr>
      <vt:lpstr>Уязвимости</vt:lpstr>
      <vt:lpstr>ТОП УЯЗВИМОСТЕЙ </vt:lpstr>
      <vt:lpstr>Утечки</vt:lpstr>
      <vt:lpstr>Supply chain</vt:lpstr>
      <vt:lpstr>Supply chain</vt:lpstr>
      <vt:lpstr>DDoS-атаки</vt:lpstr>
      <vt:lpstr>ПрогнозЫ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EvsikovVA</cp:lastModifiedBy>
  <cp:revision>28</cp:revision>
  <dcterms:created xsi:type="dcterms:W3CDTF">2023-08-23T20:21:54Z</dcterms:created>
  <dcterms:modified xsi:type="dcterms:W3CDTF">2025-10-01T20:22:33Z</dcterms:modified>
</cp:coreProperties>
</file>